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ans Thai Bold" charset="1" panose="020B0802040504020204"/>
      <p:regular r:id="rId21"/>
    </p:embeddedFont>
    <p:embeddedFont>
      <p:font typeface="Garuda Bold" charset="1" panose="020B0704020202020204"/>
      <p:regular r:id="rId22"/>
    </p:embeddedFont>
    <p:embeddedFont>
      <p:font typeface="Aptos Bold" charset="1" panose="020B0004020202020204"/>
      <p:regular r:id="rId23"/>
    </p:embeddedFont>
    <p:embeddedFont>
      <p:font typeface="Garuda" charset="1" panose="020B0604020202020204"/>
      <p:regular r:id="rId24"/>
    </p:embeddedFont>
    <p:embeddedFont>
      <p:font typeface="Aptos" charset="1" panose="020B00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5980">
            <a:off x="-3330892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5980">
            <a:off x="-2027873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980">
            <a:off x="-724852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980">
            <a:off x="57816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5980">
            <a:off x="188118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5980">
            <a:off x="318420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5980">
            <a:off x="448722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5980">
            <a:off x="5790247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95980">
            <a:off x="709326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95980">
            <a:off x="839628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263566" y="-137432"/>
            <a:ext cx="18767403" cy="11917301"/>
          </a:xfrm>
          <a:custGeom>
            <a:avLst/>
            <a:gdLst/>
            <a:ahLst/>
            <a:cxnLst/>
            <a:rect r="r" b="b" t="t" l="l"/>
            <a:pathLst>
              <a:path h="11917301" w="18767403">
                <a:moveTo>
                  <a:pt x="0" y="0"/>
                </a:moveTo>
                <a:lnTo>
                  <a:pt x="18767403" y="0"/>
                </a:lnTo>
                <a:lnTo>
                  <a:pt x="18767403" y="11917301"/>
                </a:lnTo>
                <a:lnTo>
                  <a:pt x="0" y="11917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5395980">
            <a:off x="9699307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95980">
            <a:off x="11002328" y="4692968"/>
            <a:ext cx="8170555" cy="0"/>
          </a:xfrm>
          <a:prstGeom prst="line">
            <a:avLst/>
          </a:prstGeom>
          <a:ln cap="rnd" w="9525">
            <a:solidFill>
              <a:srgbClr val="31577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1920">
            <a:off x="543878" y="818198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1920">
            <a:off x="543878" y="2025206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1920">
            <a:off x="543878" y="3232214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920">
            <a:off x="543878" y="4439222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920">
            <a:off x="543878" y="5646230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920">
            <a:off x="543878" y="6853238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920">
            <a:off x="543878" y="8060246"/>
            <a:ext cx="17154525" cy="0"/>
          </a:xfrm>
          <a:prstGeom prst="line">
            <a:avLst/>
          </a:prstGeom>
          <a:ln cap="rnd" w="9525">
            <a:solidFill>
              <a:srgbClr val="31577F">
                <a:alpha val="21961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451330" y="49530"/>
            <a:ext cx="3261360" cy="3261360"/>
            <a:chOff x="0" y="0"/>
            <a:chExt cx="4348480" cy="4348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174240" y="0"/>
              <a:ext cx="2174240" cy="2174240"/>
            </a:xfrm>
            <a:custGeom>
              <a:avLst/>
              <a:gdLst/>
              <a:ahLst/>
              <a:cxnLst/>
              <a:rect r="r" b="b" t="t" l="l"/>
              <a:pathLst>
                <a:path h="2174240" w="2174240">
                  <a:moveTo>
                    <a:pt x="0" y="0"/>
                  </a:moveTo>
                  <a:cubicBezTo>
                    <a:pt x="1200785" y="0"/>
                    <a:pt x="2174240" y="973455"/>
                    <a:pt x="2174240" y="2174240"/>
                  </a:cubicBezTo>
                  <a:lnTo>
                    <a:pt x="0" y="2174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6607" t="0" r="-156607" b="-100000"/>
              </a:stretch>
            </a:blipFill>
            <a:ln w="38100" cap="sq">
              <a:solidFill>
                <a:srgbClr val="55A6E6"/>
              </a:solidFill>
              <a:prstDash val="solid"/>
              <a:miter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174240" y="0"/>
              <a:ext cx="2174240" cy="2174240"/>
            </a:xfrm>
            <a:custGeom>
              <a:avLst/>
              <a:gdLst/>
              <a:ahLst/>
              <a:cxnLst/>
              <a:rect r="r" b="b" t="t" l="l"/>
              <a:pathLst>
                <a:path h="2174240" w="2174240">
                  <a:moveTo>
                    <a:pt x="0" y="0"/>
                  </a:moveTo>
                  <a:cubicBezTo>
                    <a:pt x="1200785" y="0"/>
                    <a:pt x="2174240" y="973455"/>
                    <a:pt x="2174240" y="217424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56607" t="0" r="-156607" b="-100000"/>
              </a:stretch>
            </a:blipFill>
            <a:ln w="38100" cap="sq">
              <a:solidFill>
                <a:srgbClr val="55A6E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342870" y="461010"/>
            <a:ext cx="2301240" cy="2301240"/>
            <a:chOff x="0" y="0"/>
            <a:chExt cx="3068320" cy="3068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34160" y="0"/>
              <a:ext cx="1534160" cy="1534160"/>
            </a:xfrm>
            <a:custGeom>
              <a:avLst/>
              <a:gdLst/>
              <a:ahLst/>
              <a:cxnLst/>
              <a:rect r="r" b="b" t="t" l="l"/>
              <a:pathLst>
                <a:path h="1534160" w="1534160">
                  <a:moveTo>
                    <a:pt x="0" y="0"/>
                  </a:moveTo>
                  <a:cubicBezTo>
                    <a:pt x="847344" y="0"/>
                    <a:pt x="1534160" y="686816"/>
                    <a:pt x="1534160" y="1534160"/>
                  </a:cubicBezTo>
                  <a:lnTo>
                    <a:pt x="0" y="153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6607" t="0" r="-156607" b="-99999"/>
              </a:stretch>
            </a:blipFill>
            <a:ln w="38100" cap="sq">
              <a:solidFill>
                <a:srgbClr val="2AA6A1"/>
              </a:solidFill>
              <a:prstDash val="solid"/>
              <a:miter/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534160" y="0"/>
              <a:ext cx="1534160" cy="1534160"/>
            </a:xfrm>
            <a:custGeom>
              <a:avLst/>
              <a:gdLst/>
              <a:ahLst/>
              <a:cxnLst/>
              <a:rect r="r" b="b" t="t" l="l"/>
              <a:pathLst>
                <a:path h="1534160" w="1534160">
                  <a:moveTo>
                    <a:pt x="0" y="0"/>
                  </a:moveTo>
                  <a:cubicBezTo>
                    <a:pt x="847344" y="0"/>
                    <a:pt x="1534160" y="686816"/>
                    <a:pt x="1534160" y="153416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56607" t="0" r="-156607" b="-99999"/>
              </a:stretch>
            </a:blipFill>
            <a:ln w="38100" cap="sq">
              <a:solidFill>
                <a:srgbClr val="2AA6A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19175" y="1019175"/>
            <a:ext cx="2419350" cy="512826"/>
            <a:chOff x="0" y="0"/>
            <a:chExt cx="3225800" cy="6837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25800" cy="683768"/>
            </a:xfrm>
            <a:custGeom>
              <a:avLst/>
              <a:gdLst/>
              <a:ahLst/>
              <a:cxnLst/>
              <a:rect r="r" b="b" t="t" l="l"/>
              <a:pathLst>
                <a:path h="683768" w="32258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073908" y="0"/>
                  </a:lnTo>
                  <a:cubicBezTo>
                    <a:pt x="3157728" y="0"/>
                    <a:pt x="3225800" y="68072"/>
                    <a:pt x="3225800" y="151892"/>
                  </a:cubicBezTo>
                  <a:lnTo>
                    <a:pt x="3225800" y="531876"/>
                  </a:lnTo>
                  <a:cubicBezTo>
                    <a:pt x="3225800" y="615823"/>
                    <a:pt x="3157728" y="683768"/>
                    <a:pt x="30739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1A4A7E"/>
            </a:solidFill>
            <a:ln w="19050" cap="sq">
              <a:solidFill>
                <a:srgbClr val="1A4A7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38428" y="1056132"/>
            <a:ext cx="2180844" cy="384048"/>
            <a:chOff x="0" y="0"/>
            <a:chExt cx="2907792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07792" cy="512064"/>
            </a:xfrm>
            <a:custGeom>
              <a:avLst/>
              <a:gdLst/>
              <a:ahLst/>
              <a:cxnLst/>
              <a:rect r="r" b="b" t="t" l="l"/>
              <a:pathLst>
                <a:path h="512064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647" r="0" b="-6064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907792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8EEFF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DATA • EDA • ML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2029968"/>
            <a:ext cx="11795760" cy="2125980"/>
            <a:chOff x="0" y="0"/>
            <a:chExt cx="15727680" cy="2834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727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10" r="0" b="-581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5727680" cy="284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กระบวนการเตรียมข้อมูล Scopus</a:t>
              </a:r>
            </a:p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สำหรับ Machine Learning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9848" y="4389120"/>
            <a:ext cx="11658600" cy="576072"/>
            <a:chOff x="0" y="0"/>
            <a:chExt cx="15544800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544800" cy="768096"/>
            </a:xfrm>
            <a:custGeom>
              <a:avLst/>
              <a:gdLst/>
              <a:ahLst/>
              <a:cxnLst/>
              <a:rect r="r" b="b" t="t" l="l"/>
              <a:pathLst>
                <a:path h="768096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40" r="0" b="-3443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5448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8D8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EDA · Data Cleaning · Visualization · Text Embedding · Feature Vector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7260">
            <a:off x="1059361" y="5275897"/>
            <a:ext cx="9896494" cy="0"/>
          </a:xfrm>
          <a:prstGeom prst="line">
            <a:avLst/>
          </a:prstGeom>
          <a:ln cap="rnd" w="9525">
            <a:solidFill>
              <a:srgbClr val="4F8FC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69848" y="5554980"/>
            <a:ext cx="11109960" cy="658368"/>
            <a:chOff x="0" y="0"/>
            <a:chExt cx="1481328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1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481328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Garuda"/>
                  <a:ea typeface="Garuda"/>
                  <a:cs typeface="Garuda"/>
                  <a:sym typeface="Garuda"/>
                </a:rPr>
                <a:t>จากบทความวิจัย 6,000 รายการ → ชุดข้อมูลพร้อมส่งต่อให้โมเดล ML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19175" y="7448578"/>
            <a:ext cx="5097894" cy="2660354"/>
            <a:chOff x="0" y="0"/>
            <a:chExt cx="6315695" cy="32958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15695" cy="3295869"/>
            </a:xfrm>
            <a:custGeom>
              <a:avLst/>
              <a:gdLst/>
              <a:ahLst/>
              <a:cxnLst/>
              <a:rect r="r" b="b" t="t" l="l"/>
              <a:pathLst>
                <a:path h="3295869" w="6315695">
                  <a:moveTo>
                    <a:pt x="0" y="0"/>
                  </a:moveTo>
                  <a:lnTo>
                    <a:pt x="6315695" y="0"/>
                  </a:lnTo>
                  <a:lnTo>
                    <a:pt x="6315695" y="3295869"/>
                  </a:lnTo>
                  <a:lnTo>
                    <a:pt x="0" y="32958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00" r="-117173" b="89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6315695" cy="3381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รายชื่อสมาชิกกลุ่ม: </a:t>
              </a:r>
            </a:p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66011211002 นาย กฤษณะ เทพาฤทธิ์</a:t>
              </a:r>
            </a:p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66011211049 นาย ยุติธรรม ปั่นกลาง</a:t>
              </a:r>
            </a:p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66011211174 นางสาว นัฐกานต์ ทองเชื้อ</a:t>
              </a:r>
            </a:p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66011211097 นาย อดิศร บุญเหมาะ</a:t>
              </a:r>
            </a:p>
            <a:p>
              <a:pPr algn="just">
                <a:lnSpc>
                  <a:spcPts val="3317"/>
                </a:lnSpc>
              </a:pPr>
              <a:r>
                <a:rPr lang="en-US" sz="2099">
                  <a:solidFill>
                    <a:srgbClr val="A9C8E8"/>
                  </a:solidFill>
                  <a:latin typeface="Garuda"/>
                  <a:ea typeface="Garuda"/>
                  <a:cs typeface="Garuda"/>
                  <a:sym typeface="Garuda"/>
                </a:rPr>
                <a:t>66011211162 นางสาว ณัฐกานต์ ตาทอง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470380" y="9354312"/>
            <a:ext cx="2674620" cy="274320"/>
            <a:chOff x="0" y="0"/>
            <a:chExt cx="3566160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566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E9BC3"/>
                  </a:solidFill>
                  <a:latin typeface="Aptos"/>
                  <a:ea typeface="Aptos"/>
                  <a:cs typeface="Aptos"/>
                  <a:sym typeface="Aptos"/>
                </a:rPr>
                <a:t>SOURCE: project files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01 • OBJECTIVE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822960"/>
            <a:ext cx="17150639" cy="1133137"/>
            <a:chOff x="0" y="0"/>
            <a:chExt cx="22867518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7519" cy="1510849"/>
            </a:xfrm>
            <a:custGeom>
              <a:avLst/>
              <a:gdLst/>
              <a:ahLst/>
              <a:cxnLst/>
              <a:rect r="r" b="b" t="t" l="l"/>
              <a:pathLst>
                <a:path h="1510849" w="22867519">
                  <a:moveTo>
                    <a:pt x="0" y="0"/>
                  </a:moveTo>
                  <a:lnTo>
                    <a:pt x="22867519" y="0"/>
                  </a:lnTo>
                  <a:lnTo>
                    <a:pt x="22867519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4031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867518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กระบวนการทำ EDA (Exploratory Data Analysis) และ (Data Cleaning)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673352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เปลี่ยน bibliographic data ให้เป็นข้อมูลสะอาด วิเคราะห์ได้ และแปลงเป็นเวกเตอร์เชิงความหมาย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774823"/>
            <a:ext cx="3009138" cy="2830830"/>
            <a:chOff x="0" y="0"/>
            <a:chExt cx="4012184" cy="3774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12184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1218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91204" y="0"/>
                  </a:lnTo>
                  <a:cubicBezTo>
                    <a:pt x="3913251" y="0"/>
                    <a:pt x="4012184" y="98933"/>
                    <a:pt x="4012184" y="220980"/>
                  </a:cubicBezTo>
                  <a:lnTo>
                    <a:pt x="4012184" y="3553460"/>
                  </a:lnTo>
                  <a:cubicBezTo>
                    <a:pt x="4012184" y="3675507"/>
                    <a:pt x="3913251" y="3774440"/>
                    <a:pt x="3791204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8903" y="3035427"/>
            <a:ext cx="649986" cy="649986"/>
            <a:chOff x="0" y="0"/>
            <a:chExt cx="866648" cy="866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38428" y="3058668"/>
            <a:ext cx="630936" cy="617220"/>
            <a:chOff x="0" y="0"/>
            <a:chExt cx="841248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14" t="0" r="-7551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41248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8428" y="3826764"/>
            <a:ext cx="2496312" cy="608142"/>
            <a:chOff x="0" y="0"/>
            <a:chExt cx="3328416" cy="810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28416" cy="810856"/>
            </a:xfrm>
            <a:custGeom>
              <a:avLst/>
              <a:gdLst/>
              <a:ahLst/>
              <a:cxnLst/>
              <a:rect r="r" b="b" t="t" l="l"/>
              <a:pathLst>
                <a:path h="81085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9" r="0" b="-273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328416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Data Collection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8428" y="4526280"/>
            <a:ext cx="2496312" cy="754380"/>
            <a:chOff x="0" y="0"/>
            <a:chExt cx="3328416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284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7" r="0" b="-1447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3284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รวม CSV จาก Scopus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95344" y="3771900"/>
            <a:ext cx="384048" cy="727819"/>
            <a:chOff x="0" y="0"/>
            <a:chExt cx="512064" cy="9704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340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73A6D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69867" y="2774823"/>
            <a:ext cx="3009138" cy="2830830"/>
            <a:chOff x="0" y="0"/>
            <a:chExt cx="4012184" cy="3774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12184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1218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91204" y="0"/>
                  </a:lnTo>
                  <a:cubicBezTo>
                    <a:pt x="3913251" y="0"/>
                    <a:pt x="4012184" y="98933"/>
                    <a:pt x="4012184" y="220980"/>
                  </a:cubicBezTo>
                  <a:lnTo>
                    <a:pt x="4012184" y="3553460"/>
                  </a:lnTo>
                  <a:cubicBezTo>
                    <a:pt x="4012184" y="3675507"/>
                    <a:pt x="3913251" y="3774440"/>
                    <a:pt x="3791204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516755" y="3035427"/>
            <a:ext cx="649986" cy="649986"/>
            <a:chOff x="0" y="0"/>
            <a:chExt cx="866648" cy="8666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526280" y="3058668"/>
            <a:ext cx="630936" cy="617220"/>
            <a:chOff x="0" y="0"/>
            <a:chExt cx="841248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1248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14" t="0" r="-7551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41248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526280" y="3826764"/>
            <a:ext cx="2496312" cy="608142"/>
            <a:chOff x="0" y="0"/>
            <a:chExt cx="3328416" cy="810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28416" cy="810856"/>
            </a:xfrm>
            <a:custGeom>
              <a:avLst/>
              <a:gdLst/>
              <a:ahLst/>
              <a:cxnLst/>
              <a:rect r="r" b="b" t="t" l="l"/>
              <a:pathLst>
                <a:path h="81085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9" r="0" b="-273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328416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Data Cleaning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526280" y="4526280"/>
            <a:ext cx="2496312" cy="754380"/>
            <a:chOff x="0" y="0"/>
            <a:chExt cx="3328416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284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7" r="0" b="-144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3284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ลบซ้ำ + ทำความสะอาดข้อความ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83196" y="3771900"/>
            <a:ext cx="384048" cy="727819"/>
            <a:chOff x="0" y="0"/>
            <a:chExt cx="512064" cy="9704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3404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73A6D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57719" y="2774823"/>
            <a:ext cx="3009138" cy="2830830"/>
            <a:chOff x="0" y="0"/>
            <a:chExt cx="4012184" cy="3774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12184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1218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91204" y="0"/>
                  </a:lnTo>
                  <a:cubicBezTo>
                    <a:pt x="3913251" y="0"/>
                    <a:pt x="4012184" y="98933"/>
                    <a:pt x="4012184" y="220980"/>
                  </a:cubicBezTo>
                  <a:lnTo>
                    <a:pt x="4012184" y="3553460"/>
                  </a:lnTo>
                  <a:cubicBezTo>
                    <a:pt x="4012184" y="3675507"/>
                    <a:pt x="3913251" y="3774440"/>
                    <a:pt x="3791204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904607" y="3035427"/>
            <a:ext cx="649986" cy="649986"/>
            <a:chOff x="0" y="0"/>
            <a:chExt cx="866648" cy="8666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914132" y="3058668"/>
            <a:ext cx="630936" cy="617220"/>
            <a:chOff x="0" y="0"/>
            <a:chExt cx="841248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248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14" t="0" r="-7551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841248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914132" y="3826764"/>
            <a:ext cx="2496312" cy="608142"/>
            <a:chOff x="0" y="0"/>
            <a:chExt cx="3328416" cy="810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28416" cy="810856"/>
            </a:xfrm>
            <a:custGeom>
              <a:avLst/>
              <a:gdLst/>
              <a:ahLst/>
              <a:cxnLst/>
              <a:rect r="r" b="b" t="t" l="l"/>
              <a:pathLst>
                <a:path h="81085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9" r="0" b="-273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328416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EDA &amp; Viz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14132" y="4526280"/>
            <a:ext cx="2496312" cy="754380"/>
            <a:chOff x="0" y="0"/>
            <a:chExt cx="3328416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284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7" r="0" b="-144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3284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ดูแนวโน้มและความสัมพันธ์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71048" y="3771900"/>
            <a:ext cx="384048" cy="727819"/>
            <a:chOff x="0" y="0"/>
            <a:chExt cx="512064" cy="9704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3404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73A6D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045571" y="2774823"/>
            <a:ext cx="3009138" cy="2830830"/>
            <a:chOff x="0" y="0"/>
            <a:chExt cx="4012184" cy="3774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12184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1218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91204" y="0"/>
                  </a:lnTo>
                  <a:cubicBezTo>
                    <a:pt x="3913251" y="0"/>
                    <a:pt x="4012184" y="98933"/>
                    <a:pt x="4012184" y="220980"/>
                  </a:cubicBezTo>
                  <a:lnTo>
                    <a:pt x="4012184" y="3553460"/>
                  </a:lnTo>
                  <a:cubicBezTo>
                    <a:pt x="4012184" y="3675507"/>
                    <a:pt x="3913251" y="3774440"/>
                    <a:pt x="3791204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292459" y="3035427"/>
            <a:ext cx="649986" cy="649986"/>
            <a:chOff x="0" y="0"/>
            <a:chExt cx="866648" cy="8666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301984" y="3058668"/>
            <a:ext cx="630936" cy="617220"/>
            <a:chOff x="0" y="0"/>
            <a:chExt cx="841248" cy="822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14" t="0" r="-75514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41248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04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301984" y="3826764"/>
            <a:ext cx="2496312" cy="608142"/>
            <a:chOff x="0" y="0"/>
            <a:chExt cx="3328416" cy="8108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28416" cy="810856"/>
            </a:xfrm>
            <a:custGeom>
              <a:avLst/>
              <a:gdLst/>
              <a:ahLst/>
              <a:cxnLst/>
              <a:rect r="r" b="b" t="t" l="l"/>
              <a:pathLst>
                <a:path h="81085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9" r="0" b="-273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328416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Text Prep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301984" y="4526280"/>
            <a:ext cx="2496312" cy="754380"/>
            <a:chOff x="0" y="0"/>
            <a:chExt cx="3328416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284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7" r="0" b="-1447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3284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รวม Title / Abstract / Keywords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058900" y="3771900"/>
            <a:ext cx="384048" cy="727819"/>
            <a:chOff x="0" y="0"/>
            <a:chExt cx="512064" cy="97042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3404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73A6D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433423" y="2774823"/>
            <a:ext cx="3009138" cy="2830830"/>
            <a:chOff x="0" y="0"/>
            <a:chExt cx="4012184" cy="3774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012184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1218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91204" y="0"/>
                  </a:lnTo>
                  <a:cubicBezTo>
                    <a:pt x="3913251" y="0"/>
                    <a:pt x="4012184" y="98933"/>
                    <a:pt x="4012184" y="220980"/>
                  </a:cubicBezTo>
                  <a:lnTo>
                    <a:pt x="4012184" y="3553460"/>
                  </a:lnTo>
                  <a:cubicBezTo>
                    <a:pt x="4012184" y="3675507"/>
                    <a:pt x="3913251" y="3774440"/>
                    <a:pt x="3791204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EAF5FF"/>
            </a:solidFill>
            <a:ln w="19050" cap="sq">
              <a:solidFill>
                <a:srgbClr val="8DBBE3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4680311" y="3035427"/>
            <a:ext cx="649986" cy="649986"/>
            <a:chOff x="0" y="0"/>
            <a:chExt cx="866648" cy="8666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689836" y="3058668"/>
            <a:ext cx="630936" cy="617220"/>
            <a:chOff x="0" y="0"/>
            <a:chExt cx="841248" cy="822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1248" cy="822960"/>
            </a:xfrm>
            <a:custGeom>
              <a:avLst/>
              <a:gdLst/>
              <a:ahLst/>
              <a:cxnLst/>
              <a:rect r="r" b="b" t="t" l="l"/>
              <a:pathLst>
                <a:path h="82296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14" t="0" r="-7551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841248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689836" y="3826764"/>
            <a:ext cx="2496312" cy="608142"/>
            <a:chOff x="0" y="0"/>
            <a:chExt cx="3328416" cy="8108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328416" cy="810856"/>
            </a:xfrm>
            <a:custGeom>
              <a:avLst/>
              <a:gdLst/>
              <a:ahLst/>
              <a:cxnLst/>
              <a:rect r="r" b="b" t="t" l="l"/>
              <a:pathLst>
                <a:path h="81085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9" r="0" b="-2734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328416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Embedding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689836" y="4526280"/>
            <a:ext cx="2496312" cy="754380"/>
            <a:chOff x="0" y="0"/>
            <a:chExt cx="3328416" cy="1005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3284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7" r="0" b="-1447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3328416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SPECTER2 → 768D Vector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82015" y="6368415"/>
            <a:ext cx="3653790" cy="1870710"/>
            <a:chOff x="0" y="0"/>
            <a:chExt cx="4871720" cy="24942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8717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87172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649978" y="0"/>
                  </a:lnTo>
                  <a:cubicBezTo>
                    <a:pt x="4772406" y="0"/>
                    <a:pt x="4871720" y="99314"/>
                    <a:pt x="4871720" y="221742"/>
                  </a:cubicBezTo>
                  <a:lnTo>
                    <a:pt x="4871720" y="2272538"/>
                  </a:lnTo>
                  <a:cubicBezTo>
                    <a:pt x="4871720" y="2394966"/>
                    <a:pt x="4772406" y="2494280"/>
                    <a:pt x="464997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82015" y="6368415"/>
            <a:ext cx="115062" cy="1870710"/>
            <a:chOff x="0" y="0"/>
            <a:chExt cx="153416" cy="24942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07008" y="6597396"/>
            <a:ext cx="3154680" cy="1133137"/>
            <a:chOff x="0" y="0"/>
            <a:chExt cx="4206240" cy="15108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0624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3" r="0" b="1065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420624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6,000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07008" y="7420356"/>
            <a:ext cx="3154680" cy="644652"/>
            <a:chOff x="0" y="0"/>
            <a:chExt cx="4206240" cy="8595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206240" cy="859536"/>
            </a:xfrm>
            <a:custGeom>
              <a:avLst/>
              <a:gdLst/>
              <a:ahLst/>
              <a:cxnLst/>
              <a:rect r="r" b="b" t="t" l="l"/>
              <a:pathLst>
                <a:path h="85953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52" r="0" b="-4535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420624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รายการดิบจาก 10 ไฟล์ CSV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859655" y="6368415"/>
            <a:ext cx="3653790" cy="1870710"/>
            <a:chOff x="0" y="0"/>
            <a:chExt cx="4871720" cy="2494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8717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87172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649978" y="0"/>
                  </a:lnTo>
                  <a:cubicBezTo>
                    <a:pt x="4772406" y="0"/>
                    <a:pt x="4871720" y="99314"/>
                    <a:pt x="4871720" y="221742"/>
                  </a:cubicBezTo>
                  <a:lnTo>
                    <a:pt x="4871720" y="2272538"/>
                  </a:lnTo>
                  <a:cubicBezTo>
                    <a:pt x="4871720" y="2394966"/>
                    <a:pt x="4772406" y="2494280"/>
                    <a:pt x="464997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4859655" y="6368415"/>
            <a:ext cx="115062" cy="1870710"/>
            <a:chOff x="0" y="0"/>
            <a:chExt cx="153416" cy="24942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5184648" y="6597396"/>
            <a:ext cx="3154680" cy="1133137"/>
            <a:chOff x="0" y="0"/>
            <a:chExt cx="4206240" cy="151085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20624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3" r="0" b="1065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420624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5,459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184648" y="7420356"/>
            <a:ext cx="3154680" cy="644652"/>
            <a:chOff x="0" y="0"/>
            <a:chExt cx="4206240" cy="85953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206240" cy="859536"/>
            </a:xfrm>
            <a:custGeom>
              <a:avLst/>
              <a:gdLst/>
              <a:ahLst/>
              <a:cxnLst/>
              <a:rect r="r" b="b" t="t" l="l"/>
              <a:pathLst>
                <a:path h="85953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52" r="0" b="-4535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420624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รายการหลังจัดการข้อมูลซ้ำ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837295" y="6368415"/>
            <a:ext cx="3653790" cy="1870710"/>
            <a:chOff x="0" y="0"/>
            <a:chExt cx="4871720" cy="24942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8717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87172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649978" y="0"/>
                  </a:lnTo>
                  <a:cubicBezTo>
                    <a:pt x="4772406" y="0"/>
                    <a:pt x="4871720" y="99314"/>
                    <a:pt x="4871720" y="221742"/>
                  </a:cubicBezTo>
                  <a:lnTo>
                    <a:pt x="4871720" y="2272538"/>
                  </a:lnTo>
                  <a:cubicBezTo>
                    <a:pt x="4871720" y="2394966"/>
                    <a:pt x="4772406" y="2494280"/>
                    <a:pt x="464997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8837295" y="6368415"/>
            <a:ext cx="115062" cy="1870710"/>
            <a:chOff x="0" y="0"/>
            <a:chExt cx="153416" cy="24942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A6A1"/>
            </a:solidFill>
            <a:ln w="19050" cap="sq">
              <a:solidFill>
                <a:srgbClr val="2AA6A1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9162288" y="6597396"/>
            <a:ext cx="3154680" cy="1133137"/>
            <a:chOff x="0" y="0"/>
            <a:chExt cx="4206240" cy="15108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0624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3" r="0" b="1065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420624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768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62288" y="7420356"/>
            <a:ext cx="3154680" cy="644652"/>
            <a:chOff x="0" y="0"/>
            <a:chExt cx="4206240" cy="85953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206240" cy="859536"/>
            </a:xfrm>
            <a:custGeom>
              <a:avLst/>
              <a:gdLst/>
              <a:ahLst/>
              <a:cxnLst/>
              <a:rect r="r" b="b" t="t" l="l"/>
              <a:pathLst>
                <a:path h="85953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52" r="0" b="-4535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420624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มิติของ Feature Vector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814935" y="6368415"/>
            <a:ext cx="4572762" cy="1870710"/>
            <a:chOff x="0" y="0"/>
            <a:chExt cx="6097016" cy="24942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0970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6097016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5875274" y="0"/>
                  </a:lnTo>
                  <a:cubicBezTo>
                    <a:pt x="5997702" y="0"/>
                    <a:pt x="6097016" y="99314"/>
                    <a:pt x="6097016" y="221742"/>
                  </a:cubicBezTo>
                  <a:lnTo>
                    <a:pt x="6097016" y="2272538"/>
                  </a:lnTo>
                  <a:cubicBezTo>
                    <a:pt x="6097016" y="2394966"/>
                    <a:pt x="5997702" y="2494280"/>
                    <a:pt x="5875274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3139928" y="6652260"/>
            <a:ext cx="3922776" cy="681533"/>
            <a:chOff x="0" y="0"/>
            <a:chExt cx="5230368" cy="90871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230368" cy="908710"/>
            </a:xfrm>
            <a:custGeom>
              <a:avLst/>
              <a:gdLst/>
              <a:ahLst/>
              <a:cxnLst/>
              <a:rect r="r" b="b" t="t" l="l"/>
              <a:pathLst>
                <a:path h="908710" w="5230368">
                  <a:moveTo>
                    <a:pt x="0" y="0"/>
                  </a:moveTo>
                  <a:lnTo>
                    <a:pt x="5230368" y="0"/>
                  </a:lnTo>
                  <a:lnTo>
                    <a:pt x="5230368" y="908710"/>
                  </a:lnTo>
                  <a:lnTo>
                    <a:pt x="0" y="908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9" r="0" b="-5441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5230368" cy="9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พร้อมใช้กับ ML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139928" y="7269480"/>
            <a:ext cx="3922776" cy="442112"/>
            <a:chOff x="0" y="0"/>
            <a:chExt cx="5230368" cy="58948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230368" cy="589483"/>
            </a:xfrm>
            <a:custGeom>
              <a:avLst/>
              <a:gdLst/>
              <a:ahLst/>
              <a:cxnLst/>
              <a:rect r="r" b="b" t="t" l="l"/>
              <a:pathLst>
                <a:path h="589483" w="5230368">
                  <a:moveTo>
                    <a:pt x="0" y="0"/>
                  </a:moveTo>
                  <a:lnTo>
                    <a:pt x="5230368" y="0"/>
                  </a:lnTo>
                  <a:lnTo>
                    <a:pt x="5230368" y="589483"/>
                  </a:lnTo>
                  <a:lnTo>
                    <a:pt x="0" y="589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53" r="0" b="-11632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5230368" cy="58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FE4F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เช่น K-Means / KNN</a:t>
              </a:r>
            </a:p>
          </p:txBody>
        </p:sp>
      </p:grpSp>
      <p:sp>
        <p:nvSpPr>
          <p:cNvPr name="TextBox 132" id="132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02 • Data Integration &amp; Selection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การรวมและคัดเลือกข้อมูล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9546" y="1818556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ข้อมูลเริ่มต้นมาจาก Scopus โดย export เป็น CSV ก่อนนำมารวมใน Python / Google Colab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802255"/>
            <a:ext cx="3516630" cy="1870710"/>
            <a:chOff x="0" y="0"/>
            <a:chExt cx="4688840" cy="2494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8884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68884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467098" y="0"/>
                  </a:lnTo>
                  <a:cubicBezTo>
                    <a:pt x="4589526" y="0"/>
                    <a:pt x="4688840" y="99314"/>
                    <a:pt x="4688840" y="221742"/>
                  </a:cubicBezTo>
                  <a:lnTo>
                    <a:pt x="4688840" y="2272538"/>
                  </a:lnTo>
                  <a:cubicBezTo>
                    <a:pt x="4688840" y="2394966"/>
                    <a:pt x="4589526" y="2494280"/>
                    <a:pt x="446709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2015" y="2802255"/>
            <a:ext cx="115062" cy="1870710"/>
            <a:chOff x="0" y="0"/>
            <a:chExt cx="153416" cy="2494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B5CAB"/>
            </a:solidFill>
            <a:ln w="19050" cap="sq">
              <a:solidFill>
                <a:srgbClr val="0B5CA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008" y="3031236"/>
            <a:ext cx="3017520" cy="1133137"/>
            <a:chOff x="0" y="0"/>
            <a:chExt cx="4023360" cy="15108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5" r="0" b="130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02336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10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008" y="3854196"/>
            <a:ext cx="3017520" cy="644652"/>
            <a:chOff x="0" y="0"/>
            <a:chExt cx="4023360" cy="8595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859536"/>
            </a:xfrm>
            <a:custGeom>
              <a:avLst/>
              <a:gdLst/>
              <a:ahLst/>
              <a:cxnLst/>
              <a:rect r="r" b="b" t="t" l="l"/>
              <a:pathLst>
                <a:path h="8595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06" r="0" b="-412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0233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ไฟล์ CSV ที่รวบรวม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22495" y="2802255"/>
            <a:ext cx="3516630" cy="1870710"/>
            <a:chOff x="0" y="0"/>
            <a:chExt cx="4688840" cy="2494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8884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68884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467098" y="0"/>
                  </a:lnTo>
                  <a:cubicBezTo>
                    <a:pt x="4589526" y="0"/>
                    <a:pt x="4688840" y="99314"/>
                    <a:pt x="4688840" y="221742"/>
                  </a:cubicBezTo>
                  <a:lnTo>
                    <a:pt x="4688840" y="2272538"/>
                  </a:lnTo>
                  <a:cubicBezTo>
                    <a:pt x="4688840" y="2394966"/>
                    <a:pt x="4589526" y="2494280"/>
                    <a:pt x="446709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722495" y="2802255"/>
            <a:ext cx="115062" cy="1870710"/>
            <a:chOff x="0" y="0"/>
            <a:chExt cx="153416" cy="2494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047488" y="3031236"/>
            <a:ext cx="3017520" cy="1133137"/>
            <a:chOff x="0" y="0"/>
            <a:chExt cx="4023360" cy="15108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5" r="0" b="1300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02336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6,000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47488" y="3854196"/>
            <a:ext cx="3017520" cy="644652"/>
            <a:chOff x="0" y="0"/>
            <a:chExt cx="4023360" cy="8595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859536"/>
            </a:xfrm>
            <a:custGeom>
              <a:avLst/>
              <a:gdLst/>
              <a:ahLst/>
              <a:cxnLst/>
              <a:rect r="r" b="b" t="t" l="l"/>
              <a:pathLst>
                <a:path h="8595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06" r="0" b="-412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023360" cy="859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รายการข้อมูลดิบ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62975" y="2802255"/>
            <a:ext cx="3516630" cy="1870710"/>
            <a:chOff x="0" y="0"/>
            <a:chExt cx="4688840" cy="2494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8884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688840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4467098" y="0"/>
                  </a:lnTo>
                  <a:cubicBezTo>
                    <a:pt x="4589526" y="0"/>
                    <a:pt x="4688840" y="99314"/>
                    <a:pt x="4688840" y="221742"/>
                  </a:cubicBezTo>
                  <a:lnTo>
                    <a:pt x="4688840" y="2272538"/>
                  </a:lnTo>
                  <a:cubicBezTo>
                    <a:pt x="4688840" y="2394966"/>
                    <a:pt x="4589526" y="2494280"/>
                    <a:pt x="4467098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562975" y="2802255"/>
            <a:ext cx="115062" cy="1870710"/>
            <a:chOff x="0" y="0"/>
            <a:chExt cx="153416" cy="2494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3416" cy="2494280"/>
            </a:xfrm>
            <a:custGeom>
              <a:avLst/>
              <a:gdLst/>
              <a:ahLst/>
              <a:cxnLst/>
              <a:rect r="r" b="b" t="t" l="l"/>
              <a:pathLst>
                <a:path h="249428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A6A1"/>
            </a:solidFill>
            <a:ln w="19050" cap="sq">
              <a:solidFill>
                <a:srgbClr val="2AA6A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887968" y="3031236"/>
            <a:ext cx="3017520" cy="1133137"/>
            <a:chOff x="0" y="0"/>
            <a:chExt cx="4023360" cy="15108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1510850"/>
            </a:xfrm>
            <a:custGeom>
              <a:avLst/>
              <a:gdLst/>
              <a:ahLst/>
              <a:cxnLst/>
              <a:rect r="r" b="b" t="t" l="l"/>
              <a:pathLst>
                <a:path h="151085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10850"/>
                  </a:lnTo>
                  <a:lnTo>
                    <a:pt x="0" y="1510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5" r="0" b="130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02336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600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887968" y="3854196"/>
            <a:ext cx="3017520" cy="689762"/>
            <a:chOff x="0" y="0"/>
            <a:chExt cx="4023360" cy="9196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919683"/>
            </a:xfrm>
            <a:custGeom>
              <a:avLst/>
              <a:gdLst/>
              <a:ahLst/>
              <a:cxnLst/>
              <a:rect r="r" b="b" t="t" l="l"/>
              <a:pathLst>
                <a:path h="919683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9683"/>
                  </a:lnTo>
                  <a:lnTo>
                    <a:pt x="0" y="9196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11" r="0" b="-319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023360" cy="919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รายการต่อ Subject ตามโครงร่าง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03455" y="2802255"/>
            <a:ext cx="4984242" cy="1870710"/>
            <a:chOff x="0" y="0"/>
            <a:chExt cx="6645656" cy="2494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45656" cy="2494280"/>
            </a:xfrm>
            <a:custGeom>
              <a:avLst/>
              <a:gdLst/>
              <a:ahLst/>
              <a:cxnLst/>
              <a:rect r="r" b="b" t="t" l="l"/>
              <a:pathLst>
                <a:path h="2494280" w="6645656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6423914" y="0"/>
                  </a:lnTo>
                  <a:cubicBezTo>
                    <a:pt x="6546342" y="0"/>
                    <a:pt x="6645656" y="99314"/>
                    <a:pt x="6645656" y="221742"/>
                  </a:cubicBezTo>
                  <a:lnTo>
                    <a:pt x="6645656" y="2272538"/>
                  </a:lnTo>
                  <a:cubicBezTo>
                    <a:pt x="6645656" y="2394966"/>
                    <a:pt x="6546342" y="2494280"/>
                    <a:pt x="6423914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EDF6FF"/>
            </a:solidFill>
            <a:ln w="19050" cap="sq">
              <a:solidFill>
                <a:srgbClr val="B7D4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728448" y="3072384"/>
            <a:ext cx="4320540" cy="442112"/>
            <a:chOff x="0" y="0"/>
            <a:chExt cx="5760720" cy="5894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60720" cy="589483"/>
            </a:xfrm>
            <a:custGeom>
              <a:avLst/>
              <a:gdLst/>
              <a:ahLst/>
              <a:cxnLst/>
              <a:rect r="r" b="b" t="t" l="l"/>
              <a:pathLst>
                <a:path h="589483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89483"/>
                  </a:lnTo>
                  <a:lnTo>
                    <a:pt x="0" y="589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881" r="0" b="-1369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760720" cy="58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แหล่งข้อมูล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728448" y="3511296"/>
            <a:ext cx="4320540" cy="847496"/>
            <a:chOff x="0" y="0"/>
            <a:chExt cx="5760720" cy="11299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0720" cy="1129995"/>
            </a:xfrm>
            <a:custGeom>
              <a:avLst/>
              <a:gdLst/>
              <a:ahLst/>
              <a:cxnLst/>
              <a:rect r="r" b="b" t="t" l="l"/>
              <a:pathLst>
                <a:path h="1129995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129995"/>
                  </a:lnTo>
                  <a:lnTo>
                    <a:pt x="0" y="1129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1" r="0" b="-3655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760720" cy="1129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SCOPUS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2015" y="5175123"/>
            <a:ext cx="10237470" cy="3420618"/>
            <a:chOff x="0" y="0"/>
            <a:chExt cx="13649960" cy="4560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649961" cy="4560824"/>
            </a:xfrm>
            <a:custGeom>
              <a:avLst/>
              <a:gdLst/>
              <a:ahLst/>
              <a:cxnLst/>
              <a:rect r="r" b="b" t="t" l="l"/>
              <a:pathLst>
                <a:path h="4560824" w="13649961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3429235" y="0"/>
                  </a:lnTo>
                  <a:cubicBezTo>
                    <a:pt x="13551154" y="0"/>
                    <a:pt x="13649961" y="98806"/>
                    <a:pt x="13649961" y="220726"/>
                  </a:cubicBezTo>
                  <a:lnTo>
                    <a:pt x="13649961" y="4340098"/>
                  </a:lnTo>
                  <a:cubicBezTo>
                    <a:pt x="13649961" y="4462018"/>
                    <a:pt x="13551154" y="4560824"/>
                    <a:pt x="13429235" y="4560824"/>
                  </a:cubicBezTo>
                  <a:lnTo>
                    <a:pt x="220726" y="4560824"/>
                  </a:lnTo>
                  <a:cubicBezTo>
                    <a:pt x="98806" y="4560824"/>
                    <a:pt x="0" y="4462018"/>
                    <a:pt x="0" y="43400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61872" y="5513832"/>
            <a:ext cx="3291840" cy="608142"/>
            <a:chOff x="0" y="0"/>
            <a:chExt cx="4389120" cy="810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89120" cy="810856"/>
            </a:xfrm>
            <a:custGeom>
              <a:avLst/>
              <a:gdLst/>
              <a:ahLst/>
              <a:cxnLst/>
              <a:rect r="r" b="b" t="t" l="l"/>
              <a:pathLst>
                <a:path h="81085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10856"/>
                  </a:lnTo>
                  <a:lnTo>
                    <a:pt x="0" y="810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85" r="0" b="-4155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389120" cy="820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โครงสร้างข้อมูลที่ใช้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52347" y="6340983"/>
            <a:ext cx="2049018" cy="1527810"/>
            <a:chOff x="0" y="0"/>
            <a:chExt cx="2732024" cy="2037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3202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732024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2509774" y="0"/>
                  </a:lnTo>
                  <a:cubicBezTo>
                    <a:pt x="2632456" y="0"/>
                    <a:pt x="2732024" y="99441"/>
                    <a:pt x="2732024" y="222250"/>
                  </a:cubicBezTo>
                  <a:lnTo>
                    <a:pt x="2732024" y="1814830"/>
                  </a:lnTo>
                  <a:cubicBezTo>
                    <a:pt x="2732024" y="1937512"/>
                    <a:pt x="2632583" y="2037080"/>
                    <a:pt x="2509774" y="2037080"/>
                  </a:cubicBezTo>
                  <a:lnTo>
                    <a:pt x="222250" y="2037080"/>
                  </a:lnTo>
                  <a:cubicBezTo>
                    <a:pt x="99441" y="2037080"/>
                    <a:pt x="0" y="1937639"/>
                    <a:pt x="0" y="1814830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BFD5E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71600" y="6569964"/>
            <a:ext cx="1810512" cy="576072"/>
            <a:chOff x="0" y="0"/>
            <a:chExt cx="2414016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14016" cy="768096"/>
            </a:xfrm>
            <a:custGeom>
              <a:avLst/>
              <a:gdLst/>
              <a:ahLst/>
              <a:cxnLst/>
              <a:rect r="r" b="b" t="t" l="l"/>
              <a:pathLst>
                <a:path h="768096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4140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Title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1600" y="7255764"/>
            <a:ext cx="1810512" cy="329184"/>
            <a:chOff x="0" y="0"/>
            <a:chExt cx="2414016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14016" cy="438912"/>
            </a:xfrm>
            <a:custGeom>
              <a:avLst/>
              <a:gdLst/>
              <a:ahLst/>
              <a:cxnLst/>
              <a:rect r="r" b="b" t="t" l="l"/>
              <a:pathLst>
                <a:path h="438912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41401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ชื่อเรื่อง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611499" y="6340983"/>
            <a:ext cx="2049018" cy="1527810"/>
            <a:chOff x="0" y="0"/>
            <a:chExt cx="2732024" cy="2037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3202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732024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2509774" y="0"/>
                  </a:lnTo>
                  <a:cubicBezTo>
                    <a:pt x="2632456" y="0"/>
                    <a:pt x="2732024" y="99441"/>
                    <a:pt x="2732024" y="222250"/>
                  </a:cubicBezTo>
                  <a:lnTo>
                    <a:pt x="2732024" y="1814830"/>
                  </a:lnTo>
                  <a:cubicBezTo>
                    <a:pt x="2732024" y="1937512"/>
                    <a:pt x="2632583" y="2037080"/>
                    <a:pt x="2509774" y="2037080"/>
                  </a:cubicBezTo>
                  <a:lnTo>
                    <a:pt x="222250" y="2037080"/>
                  </a:lnTo>
                  <a:cubicBezTo>
                    <a:pt x="99441" y="2037080"/>
                    <a:pt x="0" y="1937639"/>
                    <a:pt x="0" y="1814830"/>
                  </a:cubicBezTo>
                  <a:close/>
                </a:path>
              </a:pathLst>
            </a:custGeom>
            <a:solidFill>
              <a:srgbClr val="F8FBFE"/>
            </a:solidFill>
            <a:ln w="19050" cap="sq">
              <a:solidFill>
                <a:srgbClr val="BFD5E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3730752" y="6569964"/>
            <a:ext cx="1810512" cy="576072"/>
            <a:chOff x="0" y="0"/>
            <a:chExt cx="2414016" cy="768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14016" cy="768096"/>
            </a:xfrm>
            <a:custGeom>
              <a:avLst/>
              <a:gdLst/>
              <a:ahLst/>
              <a:cxnLst/>
              <a:rect r="r" b="b" t="t" l="l"/>
              <a:pathLst>
                <a:path h="768096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24140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Abstract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730752" y="7255764"/>
            <a:ext cx="1810512" cy="329184"/>
            <a:chOff x="0" y="0"/>
            <a:chExt cx="2414016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14016" cy="438912"/>
            </a:xfrm>
            <a:custGeom>
              <a:avLst/>
              <a:gdLst/>
              <a:ahLst/>
              <a:cxnLst/>
              <a:rect r="r" b="b" t="t" l="l"/>
              <a:pathLst>
                <a:path h="438912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41401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บทคัดย่อ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970651" y="6340983"/>
            <a:ext cx="2049018" cy="1527810"/>
            <a:chOff x="0" y="0"/>
            <a:chExt cx="2732024" cy="2037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73202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732024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2509774" y="0"/>
                  </a:lnTo>
                  <a:cubicBezTo>
                    <a:pt x="2632456" y="0"/>
                    <a:pt x="2732024" y="99441"/>
                    <a:pt x="2732024" y="222250"/>
                  </a:cubicBezTo>
                  <a:lnTo>
                    <a:pt x="2732024" y="1814830"/>
                  </a:lnTo>
                  <a:cubicBezTo>
                    <a:pt x="2732024" y="1937512"/>
                    <a:pt x="2632583" y="2037080"/>
                    <a:pt x="2509774" y="2037080"/>
                  </a:cubicBezTo>
                  <a:lnTo>
                    <a:pt x="222250" y="2037080"/>
                  </a:lnTo>
                  <a:cubicBezTo>
                    <a:pt x="99441" y="2037080"/>
                    <a:pt x="0" y="1937639"/>
                    <a:pt x="0" y="1814830"/>
                  </a:cubicBezTo>
                  <a:close/>
                </a:path>
              </a:pathLst>
            </a:custGeom>
            <a:solidFill>
              <a:srgbClr val="F8FBFE"/>
            </a:solidFill>
            <a:ln w="19050" cap="sq">
              <a:solidFill>
                <a:srgbClr val="BFD5E8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089904" y="6569964"/>
            <a:ext cx="1810512" cy="770483"/>
            <a:chOff x="0" y="0"/>
            <a:chExt cx="2414016" cy="10273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14016" cy="1027311"/>
            </a:xfrm>
            <a:custGeom>
              <a:avLst/>
              <a:gdLst/>
              <a:ahLst/>
              <a:cxnLst/>
              <a:rect r="r" b="b" t="t" l="l"/>
              <a:pathLst>
                <a:path h="1027311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1027311"/>
                  </a:lnTo>
                  <a:lnTo>
                    <a:pt x="0" y="1027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" r="0" b="1682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414016" cy="1036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Author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089904" y="7255764"/>
            <a:ext cx="1810512" cy="329184"/>
            <a:chOff x="0" y="0"/>
            <a:chExt cx="2414016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14016" cy="438912"/>
            </a:xfrm>
            <a:custGeom>
              <a:avLst/>
              <a:gdLst/>
              <a:ahLst/>
              <a:cxnLst/>
              <a:rect r="r" b="b" t="t" l="l"/>
              <a:pathLst>
                <a:path h="438912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41401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คำสำคัญผู้แต่ง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329803" y="6340983"/>
            <a:ext cx="2049018" cy="1527810"/>
            <a:chOff x="0" y="0"/>
            <a:chExt cx="2732024" cy="20370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3202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732024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2509774" y="0"/>
                  </a:lnTo>
                  <a:cubicBezTo>
                    <a:pt x="2632456" y="0"/>
                    <a:pt x="2732024" y="99441"/>
                    <a:pt x="2732024" y="222250"/>
                  </a:cubicBezTo>
                  <a:lnTo>
                    <a:pt x="2732024" y="1814830"/>
                  </a:lnTo>
                  <a:cubicBezTo>
                    <a:pt x="2732024" y="1937512"/>
                    <a:pt x="2632583" y="2037080"/>
                    <a:pt x="2509774" y="2037080"/>
                  </a:cubicBezTo>
                  <a:lnTo>
                    <a:pt x="222250" y="2037080"/>
                  </a:lnTo>
                  <a:cubicBezTo>
                    <a:pt x="99441" y="2037080"/>
                    <a:pt x="0" y="1937639"/>
                    <a:pt x="0" y="1814830"/>
                  </a:cubicBezTo>
                  <a:close/>
                </a:path>
              </a:pathLst>
            </a:custGeom>
            <a:solidFill>
              <a:srgbClr val="F8FBFE"/>
            </a:solidFill>
            <a:ln w="19050" cap="sq">
              <a:solidFill>
                <a:srgbClr val="BFD5E8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449056" y="6569964"/>
            <a:ext cx="1810512" cy="770483"/>
            <a:chOff x="0" y="0"/>
            <a:chExt cx="2414016" cy="10273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14016" cy="1027311"/>
            </a:xfrm>
            <a:custGeom>
              <a:avLst/>
              <a:gdLst/>
              <a:ahLst/>
              <a:cxnLst/>
              <a:rect r="r" b="b" t="t" l="l"/>
              <a:pathLst>
                <a:path h="1027311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1027311"/>
                  </a:lnTo>
                  <a:lnTo>
                    <a:pt x="0" y="1027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" r="0" b="1682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414016" cy="1036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Index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449056" y="7255764"/>
            <a:ext cx="1810512" cy="329184"/>
            <a:chOff x="0" y="0"/>
            <a:chExt cx="2414016" cy="4389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14016" cy="438912"/>
            </a:xfrm>
            <a:custGeom>
              <a:avLst/>
              <a:gdLst/>
              <a:ahLst/>
              <a:cxnLst/>
              <a:rect r="r" b="b" t="t" l="l"/>
              <a:pathLst>
                <a:path h="438912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41401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คำสำคัญฐานข้อมูล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84483" y="5175123"/>
            <a:ext cx="5903214" cy="3420618"/>
            <a:chOff x="0" y="0"/>
            <a:chExt cx="7870952" cy="4560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870952" cy="4560824"/>
            </a:xfrm>
            <a:custGeom>
              <a:avLst/>
              <a:gdLst/>
              <a:ahLst/>
              <a:cxnLst/>
              <a:rect r="r" b="b" t="t" l="l"/>
              <a:pathLst>
                <a:path h="4560824" w="7870952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7650226" y="0"/>
                  </a:lnTo>
                  <a:cubicBezTo>
                    <a:pt x="7772146" y="0"/>
                    <a:pt x="7870952" y="98806"/>
                    <a:pt x="7870952" y="220726"/>
                  </a:cubicBezTo>
                  <a:lnTo>
                    <a:pt x="7870952" y="4340098"/>
                  </a:lnTo>
                  <a:cubicBezTo>
                    <a:pt x="7870952" y="4462018"/>
                    <a:pt x="7772146" y="4560824"/>
                    <a:pt x="7650226" y="4560824"/>
                  </a:cubicBezTo>
                  <a:lnTo>
                    <a:pt x="220726" y="4560824"/>
                  </a:lnTo>
                  <a:cubicBezTo>
                    <a:pt x="98806" y="4560824"/>
                    <a:pt x="0" y="4462018"/>
                    <a:pt x="0" y="4340098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905488" y="5554980"/>
            <a:ext cx="5047488" cy="681533"/>
            <a:chOff x="0" y="0"/>
            <a:chExt cx="6729984" cy="90871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729984" cy="908710"/>
            </a:xfrm>
            <a:custGeom>
              <a:avLst/>
              <a:gdLst/>
              <a:ahLst/>
              <a:cxnLst/>
              <a:rect r="r" b="b" t="t" l="l"/>
              <a:pathLst>
                <a:path h="90871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08710"/>
                  </a:lnTo>
                  <a:lnTo>
                    <a:pt x="0" y="908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069" r="0" b="-8254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6729984" cy="9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Collection → Concatenate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905488" y="6350508"/>
            <a:ext cx="4690872" cy="1207008"/>
            <a:chOff x="0" y="0"/>
            <a:chExt cx="6254496" cy="160934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254496" cy="1609344"/>
            </a:xfrm>
            <a:custGeom>
              <a:avLst/>
              <a:gdLst/>
              <a:ahLst/>
              <a:cxnLst/>
              <a:rect r="r" b="b" t="t" l="l"/>
              <a:pathLst>
                <a:path h="1609344" w="6254496">
                  <a:moveTo>
                    <a:pt x="0" y="0"/>
                  </a:moveTo>
                  <a:lnTo>
                    <a:pt x="6254496" y="0"/>
                  </a:lnTo>
                  <a:lnTo>
                    <a:pt x="6254496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5" r="0" b="-2572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6254496" cy="1609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D8EBFA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ใช้ glob ค้นหา CSV ทั้ง 10 ไฟล์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D8EBFA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แล้วต่อด้วย pandas ทำให้ได้ข้อมูลดิบเริ่มต้นจำนวน 6,000 รายการ 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882247" y="7781163"/>
            <a:ext cx="3173730" cy="512826"/>
            <a:chOff x="0" y="0"/>
            <a:chExt cx="4231640" cy="68376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231640" cy="683768"/>
            </a:xfrm>
            <a:custGeom>
              <a:avLst/>
              <a:gdLst/>
              <a:ahLst/>
              <a:cxnLst/>
              <a:rect r="r" b="b" t="t" l="l"/>
              <a:pathLst>
                <a:path h="683768" w="423164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4079748" y="0"/>
                  </a:lnTo>
                  <a:cubicBezTo>
                    <a:pt x="4163695" y="0"/>
                    <a:pt x="4231640" y="68072"/>
                    <a:pt x="4231640" y="151892"/>
                  </a:cubicBezTo>
                  <a:lnTo>
                    <a:pt x="4231640" y="531876"/>
                  </a:lnTo>
                  <a:cubicBezTo>
                    <a:pt x="4231640" y="615823"/>
                    <a:pt x="4163568" y="683768"/>
                    <a:pt x="407974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214B75"/>
            </a:solidFill>
            <a:ln w="19050" cap="sq">
              <a:solidFill>
                <a:srgbClr val="214B75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001500" y="7818120"/>
            <a:ext cx="2935224" cy="405384"/>
            <a:chOff x="0" y="0"/>
            <a:chExt cx="3913632" cy="5405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13632" cy="540512"/>
            </a:xfrm>
            <a:custGeom>
              <a:avLst/>
              <a:gdLst/>
              <a:ahLst/>
              <a:cxnLst/>
              <a:rect r="r" b="b" t="t" l="l"/>
              <a:pathLst>
                <a:path h="540512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540512"/>
                  </a:lnTo>
                  <a:lnTo>
                    <a:pt x="0" y="54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14" r="0" b="-8845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913632" cy="55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5F2FD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Python + Google Colab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91540" y="8915400"/>
            <a:ext cx="16459200" cy="478874"/>
            <a:chOff x="0" y="0"/>
            <a:chExt cx="21945600" cy="63849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945600" cy="638498"/>
            </a:xfrm>
            <a:custGeom>
              <a:avLst/>
              <a:gdLst/>
              <a:ahLst/>
              <a:cxnLst/>
              <a:rect r="r" b="b" t="t" l="l"/>
              <a:pathLst>
                <a:path h="63849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021" r="0" b="-61840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2194560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เป้าหมายคือได้ตารางเดียวที่พร้อมเข้าสู่ขั้นตอน cleaning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03 • DATA CLEANING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จุดเปลี่ยนสำคัญ: 6,000 → 5,459 รายการสุทธิ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1731755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ลบความซ้ำ จัดการข้อความขยะ และทำให้โครงสร้างข้อมูลพร้อมประมวลผลต่อ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802255"/>
            <a:ext cx="7151370" cy="5436870"/>
            <a:chOff x="0" y="0"/>
            <a:chExt cx="9535160" cy="7249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5161" cy="7249161"/>
            </a:xfrm>
            <a:custGeom>
              <a:avLst/>
              <a:gdLst/>
              <a:ahLst/>
              <a:cxnLst/>
              <a:rect r="r" b="b" t="t" l="l"/>
              <a:pathLst>
                <a:path h="7249161" w="9535161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9314942" y="0"/>
                  </a:lnTo>
                  <a:cubicBezTo>
                    <a:pt x="9436608" y="0"/>
                    <a:pt x="9535161" y="98552"/>
                    <a:pt x="9535161" y="220218"/>
                  </a:cubicBezTo>
                  <a:lnTo>
                    <a:pt x="9535161" y="7028942"/>
                  </a:lnTo>
                  <a:cubicBezTo>
                    <a:pt x="9535161" y="7150608"/>
                    <a:pt x="9436608" y="7249161"/>
                    <a:pt x="9314942" y="7249161"/>
                  </a:cubicBezTo>
                  <a:lnTo>
                    <a:pt x="220218" y="7249161"/>
                  </a:lnTo>
                  <a:cubicBezTo>
                    <a:pt x="98552" y="7249160"/>
                    <a:pt x="0" y="7150608"/>
                    <a:pt x="0" y="70289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3195828"/>
            <a:ext cx="5074920" cy="727819"/>
            <a:chOff x="0" y="0"/>
            <a:chExt cx="6766560" cy="9704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970426"/>
            </a:xfrm>
            <a:custGeom>
              <a:avLst/>
              <a:gdLst/>
              <a:ahLst/>
              <a:cxnLst/>
              <a:rect r="r" b="b" t="t" l="l"/>
              <a:pathLst>
                <a:path h="970426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58" r="0" b="-716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766560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1. Remove duplicates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6989" y="3821454"/>
            <a:ext cx="6201421" cy="1855165"/>
            <a:chOff x="0" y="0"/>
            <a:chExt cx="8268562" cy="24735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68562" cy="2473554"/>
            </a:xfrm>
            <a:custGeom>
              <a:avLst/>
              <a:gdLst/>
              <a:ahLst/>
              <a:cxnLst/>
              <a:rect r="r" b="b" t="t" l="l"/>
              <a:pathLst>
                <a:path h="2473554" w="8268562">
                  <a:moveTo>
                    <a:pt x="0" y="0"/>
                  </a:moveTo>
                  <a:lnTo>
                    <a:pt x="8268562" y="0"/>
                  </a:lnTo>
                  <a:lnTo>
                    <a:pt x="8268562" y="2473554"/>
                  </a:lnTo>
                  <a:lnTo>
                    <a:pt x="0" y="2473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70" r="2682" b="99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268562" cy="2540229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042"/>
                </a:lnSpc>
              </a:pPr>
              <a:r>
                <a:rPr lang="en-US" sz="1950" spc="58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ทำกา</a:t>
              </a:r>
              <a:r>
                <a:rPr lang="en-US" sz="1950" spc="58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รกรองเปเปอร์ที่ชื่อเรื่อง (title) ซ้ำกันออก โดยกำหนดพารามิเตอร์ keep=False เพื่อลบข้อมูลที่มีความซ้ำซ้อนทิ้งทั้งหมด หลังจากการลบข้อมูลซ้ำซ้อน ทำให้เหลือข้อมูลสุทธิที่พร้อมใช้งานจำนวน 5,459 รายการ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5513832"/>
            <a:ext cx="1783080" cy="1216119"/>
            <a:chOff x="0" y="0"/>
            <a:chExt cx="2377440" cy="16214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7440" cy="1621492"/>
            </a:xfrm>
            <a:custGeom>
              <a:avLst/>
              <a:gdLst/>
              <a:ahLst/>
              <a:cxnLst/>
              <a:rect r="r" b="b" t="t" l="l"/>
              <a:pathLst>
                <a:path h="16214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621492"/>
                  </a:lnTo>
                  <a:lnTo>
                    <a:pt x="0" y="16214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379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377440" cy="1631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6,000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23260" y="5527548"/>
            <a:ext cx="891540" cy="967174"/>
            <a:chOff x="0" y="0"/>
            <a:chExt cx="1188720" cy="12895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8720" cy="1289565"/>
            </a:xfrm>
            <a:custGeom>
              <a:avLst/>
              <a:gdLst/>
              <a:ahLst/>
              <a:cxnLst/>
              <a:rect r="r" b="b" t="t" l="l"/>
              <a:pathLst>
                <a:path h="1289565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289565"/>
                  </a:lnTo>
                  <a:lnTo>
                    <a:pt x="0" y="1289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290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188720" cy="1289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42232" y="5513832"/>
            <a:ext cx="1988820" cy="1216119"/>
            <a:chOff x="0" y="0"/>
            <a:chExt cx="2651760" cy="16214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1621492"/>
            </a:xfrm>
            <a:custGeom>
              <a:avLst/>
              <a:gdLst/>
              <a:ahLst/>
              <a:cxnLst/>
              <a:rect r="r" b="b" t="t" l="l"/>
              <a:pathLst>
                <a:path h="16214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621492"/>
                  </a:lnTo>
                  <a:lnTo>
                    <a:pt x="0" y="16214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" r="0" b="371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51760" cy="1631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5,459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48150" y="6318471"/>
            <a:ext cx="1988820" cy="411480"/>
            <a:chOff x="0" y="0"/>
            <a:chExt cx="265176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51760" cy="548640"/>
            </a:xfrm>
            <a:custGeom>
              <a:avLst/>
              <a:gdLst/>
              <a:ahLst/>
              <a:cxnLst/>
              <a:rect r="r" b="b" t="t" l="l"/>
              <a:pathLst>
                <a:path h="54864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6517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รายการพร้อมใช้งาน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93495" y="7259955"/>
            <a:ext cx="4613910" cy="512826"/>
            <a:chOff x="0" y="0"/>
            <a:chExt cx="6151880" cy="6837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51880" cy="683768"/>
            </a:xfrm>
            <a:custGeom>
              <a:avLst/>
              <a:gdLst/>
              <a:ahLst/>
              <a:cxnLst/>
              <a:rect r="r" b="b" t="t" l="l"/>
              <a:pathLst>
                <a:path h="683768" w="615188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5999988" y="0"/>
                  </a:lnTo>
                  <a:cubicBezTo>
                    <a:pt x="6083935" y="0"/>
                    <a:pt x="6151880" y="68072"/>
                    <a:pt x="6151880" y="151892"/>
                  </a:cubicBezTo>
                  <a:lnTo>
                    <a:pt x="6151880" y="531876"/>
                  </a:lnTo>
                  <a:cubicBezTo>
                    <a:pt x="6151880" y="615823"/>
                    <a:pt x="6083808" y="683768"/>
                    <a:pt x="599998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DF6FF"/>
            </a:solidFill>
            <a:ln w="19050" cap="sq">
              <a:solidFill>
                <a:srgbClr val="EDF6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12748" y="7296912"/>
            <a:ext cx="4375404" cy="405318"/>
            <a:chOff x="0" y="0"/>
            <a:chExt cx="5833872" cy="5404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33872" cy="540424"/>
            </a:xfrm>
            <a:custGeom>
              <a:avLst/>
              <a:gdLst/>
              <a:ahLst/>
              <a:cxnLst/>
              <a:rect r="r" b="b" t="t" l="l"/>
              <a:pathLst>
                <a:path h="540424" w="5833872">
                  <a:moveTo>
                    <a:pt x="0" y="0"/>
                  </a:moveTo>
                  <a:lnTo>
                    <a:pt x="5833872" y="0"/>
                  </a:lnTo>
                  <a:lnTo>
                    <a:pt x="583387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964" r="0" b="-1577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83387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-541 duplicates / redundant rows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84667" y="2802255"/>
            <a:ext cx="9003030" cy="2487930"/>
            <a:chOff x="0" y="0"/>
            <a:chExt cx="12004040" cy="3317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04039" cy="3317240"/>
            </a:xfrm>
            <a:custGeom>
              <a:avLst/>
              <a:gdLst/>
              <a:ahLst/>
              <a:cxnLst/>
              <a:rect r="r" b="b" t="t" l="l"/>
              <a:pathLst>
                <a:path h="3317240" w="12004039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11782933" y="0"/>
                  </a:lnTo>
                  <a:cubicBezTo>
                    <a:pt x="11905107" y="0"/>
                    <a:pt x="12004039" y="99060"/>
                    <a:pt x="12004039" y="221107"/>
                  </a:cubicBezTo>
                  <a:lnTo>
                    <a:pt x="12004039" y="3096133"/>
                  </a:lnTo>
                  <a:cubicBezTo>
                    <a:pt x="12004039" y="3218307"/>
                    <a:pt x="11904980" y="3317240"/>
                    <a:pt x="11782933" y="3317240"/>
                  </a:cubicBezTo>
                  <a:lnTo>
                    <a:pt x="221107" y="3317240"/>
                  </a:lnTo>
                  <a:cubicBezTo>
                    <a:pt x="99060" y="3317240"/>
                    <a:pt x="0" y="3218180"/>
                    <a:pt x="0" y="3096133"/>
                  </a:cubicBezTo>
                  <a:close/>
                </a:path>
              </a:pathLst>
            </a:custGeom>
            <a:solidFill>
              <a:srgbClr val="F7FB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805672" y="3195828"/>
            <a:ext cx="3566160" cy="727819"/>
            <a:chOff x="0" y="0"/>
            <a:chExt cx="4754880" cy="9704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970426"/>
            </a:xfrm>
            <a:custGeom>
              <a:avLst/>
              <a:gdLst/>
              <a:ahLst/>
              <a:cxnLst/>
              <a:rect r="r" b="b" t="t" l="l"/>
              <a:pathLst>
                <a:path h="97042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66" r="0" b="-312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754880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2. Text cleaning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384667" y="5586603"/>
            <a:ext cx="9003030" cy="2652522"/>
            <a:chOff x="0" y="0"/>
            <a:chExt cx="12004040" cy="35366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003913" cy="3536569"/>
            </a:xfrm>
            <a:custGeom>
              <a:avLst/>
              <a:gdLst/>
              <a:ahLst/>
              <a:cxnLst/>
              <a:rect r="r" b="b" t="t" l="l"/>
              <a:pathLst>
                <a:path h="3536569" w="12003913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1782933" y="0"/>
                  </a:lnTo>
                  <a:cubicBezTo>
                    <a:pt x="11904980" y="0"/>
                    <a:pt x="12003913" y="98933"/>
                    <a:pt x="12003913" y="220980"/>
                  </a:cubicBezTo>
                  <a:lnTo>
                    <a:pt x="12003913" y="3315589"/>
                  </a:lnTo>
                  <a:cubicBezTo>
                    <a:pt x="12003913" y="3437636"/>
                    <a:pt x="11904980" y="3536569"/>
                    <a:pt x="11782933" y="3536569"/>
                  </a:cubicBezTo>
                  <a:lnTo>
                    <a:pt x="220980" y="3536569"/>
                  </a:lnTo>
                  <a:cubicBezTo>
                    <a:pt x="98933" y="3536569"/>
                    <a:pt x="0" y="3437636"/>
                    <a:pt x="0" y="3315589"/>
                  </a:cubicBezTo>
                  <a:close/>
                </a:path>
              </a:pathLst>
            </a:custGeom>
            <a:solidFill>
              <a:srgbClr val="F7FB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805672" y="5980176"/>
            <a:ext cx="3566160" cy="727819"/>
            <a:chOff x="0" y="0"/>
            <a:chExt cx="4754880" cy="97042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54880" cy="970426"/>
            </a:xfrm>
            <a:custGeom>
              <a:avLst/>
              <a:gdLst/>
              <a:ahLst/>
              <a:cxnLst/>
              <a:rect r="r" b="b" t="t" l="l"/>
              <a:pathLst>
                <a:path h="97042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66" r="0" b="-312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754880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3. Missing values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805672" y="6568059"/>
            <a:ext cx="7996428" cy="1279073"/>
            <a:chOff x="0" y="0"/>
            <a:chExt cx="10661904" cy="17054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61904" cy="1705431"/>
            </a:xfrm>
            <a:custGeom>
              <a:avLst/>
              <a:gdLst/>
              <a:ahLst/>
              <a:cxnLst/>
              <a:rect r="r" b="b" t="t" l="l"/>
              <a:pathLst>
                <a:path h="1705431" w="10661904">
                  <a:moveTo>
                    <a:pt x="0" y="0"/>
                  </a:moveTo>
                  <a:lnTo>
                    <a:pt x="10661904" y="0"/>
                  </a:lnTo>
                  <a:lnTo>
                    <a:pt x="10661904" y="1705431"/>
                  </a:lnTo>
                  <a:lnTo>
                    <a:pt x="0" y="1705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22" r="4802" b="-492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661904" cy="1705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53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ตรวจสอบและ</a:t>
              </a:r>
              <a:r>
                <a:rPr lang="en-US" sz="1800" spc="53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แทนที่ค่าว่าง (Null) ทั้งหมดด้วยช่องว่าง (Empty string) โดยใช้คำสั่ง fillna("") เพื่อป้องกันไม่ให้เกิด Error ในขั้นตอนการรวมประโยค จากการใช้คำสั่ง info() พบว่าทุกคอลัมน์ (5,459 แถว) ไม่มีค่าว่างหลงเหลืออยู่ (Non-Null Count ครบถ้วน)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7552" y="8613648"/>
            <a:ext cx="2400300" cy="442179"/>
            <a:chOff x="0" y="0"/>
            <a:chExt cx="3200400" cy="5895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00400" cy="589571"/>
            </a:xfrm>
            <a:custGeom>
              <a:avLst/>
              <a:gdLst/>
              <a:ahLst/>
              <a:cxnLst/>
              <a:rect r="r" b="b" t="t" l="l"/>
              <a:pathLst>
                <a:path h="589571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89571"/>
                  </a:lnTo>
                  <a:lnTo>
                    <a:pt x="0" y="58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44" r="0" b="-491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200400" cy="58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C728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ผลลัพธ์เชิงข้อมูล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771900" y="8613648"/>
            <a:ext cx="13030200" cy="478841"/>
            <a:chOff x="0" y="0"/>
            <a:chExt cx="17373600" cy="63845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373600" cy="638454"/>
            </a:xfrm>
            <a:custGeom>
              <a:avLst/>
              <a:gdLst/>
              <a:ahLst/>
              <a:cxnLst/>
              <a:rect r="r" b="b" t="t" l="l"/>
              <a:pathLst>
                <a:path h="63845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38454"/>
                  </a:lnTo>
                  <a:lnTo>
                    <a:pt x="0" y="6384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124" r="0" b="-4703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7373600" cy="63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Dataset สะอาดขึ้น → พร้อมทำ EDA, Visualization และ Text Embedding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805672" y="3456432"/>
            <a:ext cx="7676676" cy="1545806"/>
            <a:chOff x="0" y="0"/>
            <a:chExt cx="10149840" cy="20438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49840" cy="2043812"/>
            </a:xfrm>
            <a:custGeom>
              <a:avLst/>
              <a:gdLst/>
              <a:ahLst/>
              <a:cxnLst/>
              <a:rect r="r" b="b" t="t" l="l"/>
              <a:pathLst>
                <a:path h="2043812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043812"/>
                  </a:lnTo>
                  <a:lnTo>
                    <a:pt x="0" y="20438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26" r="0" b="-245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149840" cy="204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spc="53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ทำการค้นหาและลบประโยคลิขสิทธิ์ที่เป็นแพทเทิร์นซ้ำซาก (เช่น "Copyright (c) 2026 The Authors. This work is licensed under a Creative Commons") ออกจากคอลัมน์ abstract เพื่อให้ข้อมูลสะอาดและไม่รบกวนการเรียนรู้ของโมเดล Machine Learning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04 • EDA &amp; TEXT PREPARATION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ก่อนฝึกโมเดล: รู้จัก “ข้อความ” ที่จะป้อนให้โมเดล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841797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EDA ช่วยตรวจโครงสร้างข้อมูล ขณะเดียวกันการรวมข้อความจะรักษาบริบทของแต่ละบทความ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815971"/>
            <a:ext cx="5642610" cy="5436870"/>
            <a:chOff x="0" y="0"/>
            <a:chExt cx="7523480" cy="7249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23480" cy="7249161"/>
            </a:xfrm>
            <a:custGeom>
              <a:avLst/>
              <a:gdLst/>
              <a:ahLst/>
              <a:cxnLst/>
              <a:rect r="r" b="b" t="t" l="l"/>
              <a:pathLst>
                <a:path h="7249161" w="75234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303262" y="0"/>
                  </a:lnTo>
                  <a:cubicBezTo>
                    <a:pt x="7424928" y="0"/>
                    <a:pt x="7523480" y="98552"/>
                    <a:pt x="7523480" y="220218"/>
                  </a:cubicBezTo>
                  <a:lnTo>
                    <a:pt x="7523480" y="7028942"/>
                  </a:lnTo>
                  <a:cubicBezTo>
                    <a:pt x="7523480" y="7150608"/>
                    <a:pt x="7424928" y="7249161"/>
                    <a:pt x="7303262" y="7249161"/>
                  </a:cubicBezTo>
                  <a:lnTo>
                    <a:pt x="220218" y="7249161"/>
                  </a:lnTo>
                  <a:cubicBezTo>
                    <a:pt x="98552" y="7249160"/>
                    <a:pt x="0" y="7150608"/>
                    <a:pt x="0" y="7028942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3236976"/>
            <a:ext cx="3840480" cy="525160"/>
            <a:chOff x="0" y="0"/>
            <a:chExt cx="5120640" cy="7002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700214"/>
            </a:xfrm>
            <a:custGeom>
              <a:avLst/>
              <a:gdLst/>
              <a:ahLst/>
              <a:cxnLst/>
              <a:rect r="r" b="b" t="t" l="l"/>
              <a:pathLst>
                <a:path h="70021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00214"/>
                  </a:lnTo>
                  <a:lnTo>
                    <a:pt x="0" y="7002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316" r="0" b="-816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120640" cy="7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A9D2F3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EDA CHECKPOINTS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3495" y="4050411"/>
            <a:ext cx="485394" cy="485394"/>
            <a:chOff x="0" y="0"/>
            <a:chExt cx="647192" cy="647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192" cy="647192"/>
            </a:xfrm>
            <a:custGeom>
              <a:avLst/>
              <a:gdLst/>
              <a:ahLst/>
              <a:cxnLst/>
              <a:rect r="r" b="b" t="t" l="l"/>
              <a:pathLst>
                <a:path h="647192" w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4073652"/>
            <a:ext cx="466344" cy="478874"/>
            <a:chOff x="0" y="0"/>
            <a:chExt cx="621792" cy="6384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" cy="638499"/>
            </a:xfrm>
            <a:custGeom>
              <a:avLst/>
              <a:gdLst/>
              <a:ahLst/>
              <a:cxnLst/>
              <a:rect r="r" b="b" t="t" l="l"/>
              <a:pathLst>
                <a:path h="63849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529" t="0" r="-74529" b="54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21792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47672" y="4032504"/>
            <a:ext cx="3840480" cy="478874"/>
            <a:chOff x="0" y="0"/>
            <a:chExt cx="5120640" cy="6384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638499"/>
            </a:xfrm>
            <a:custGeom>
              <a:avLst/>
              <a:gdLst/>
              <a:ahLst/>
              <a:cxnLst/>
              <a:rect r="r" b="b" t="t" l="l"/>
              <a:pathLst>
                <a:path h="63849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63" r="0" b="-9206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1206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Rows / Columns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47672" y="4402836"/>
            <a:ext cx="3771900" cy="359197"/>
            <a:chOff x="0" y="0"/>
            <a:chExt cx="5029200" cy="4789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29200" cy="478929"/>
            </a:xfrm>
            <a:custGeom>
              <a:avLst/>
              <a:gdLst/>
              <a:ahLst/>
              <a:cxnLst/>
              <a:rect r="r" b="b" t="t" l="l"/>
              <a:pathLst>
                <a:path h="478929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607" r="0" b="-1466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02920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CDE1F2"/>
                  </a:solidFill>
                  <a:latin typeface="Garuda"/>
                  <a:ea typeface="Garuda"/>
                  <a:cs typeface="Garuda"/>
                  <a:sym typeface="Garuda"/>
                </a:rPr>
                <a:t>ตรวจจำนวนแถวและคอลัมน์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93495" y="4983099"/>
            <a:ext cx="485394" cy="485394"/>
            <a:chOff x="0" y="0"/>
            <a:chExt cx="647192" cy="6471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192" cy="647192"/>
            </a:xfrm>
            <a:custGeom>
              <a:avLst/>
              <a:gdLst/>
              <a:ahLst/>
              <a:cxnLst/>
              <a:rect r="r" b="b" t="t" l="l"/>
              <a:pathLst>
                <a:path h="647192" w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03020" y="5006340"/>
            <a:ext cx="466344" cy="478874"/>
            <a:chOff x="0" y="0"/>
            <a:chExt cx="621792" cy="6384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" cy="638499"/>
            </a:xfrm>
            <a:custGeom>
              <a:avLst/>
              <a:gdLst/>
              <a:ahLst/>
              <a:cxnLst/>
              <a:rect r="r" b="b" t="t" l="l"/>
              <a:pathLst>
                <a:path h="63849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529" t="0" r="-74529" b="54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21792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47672" y="4965192"/>
            <a:ext cx="3840480" cy="478874"/>
            <a:chOff x="0" y="0"/>
            <a:chExt cx="5120640" cy="6384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638499"/>
            </a:xfrm>
            <a:custGeom>
              <a:avLst/>
              <a:gdLst/>
              <a:ahLst/>
              <a:cxnLst/>
              <a:rect r="r" b="b" t="t" l="l"/>
              <a:pathLst>
                <a:path h="63849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63" r="0" b="-9206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1206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 Frequency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47672" y="5335524"/>
            <a:ext cx="3771900" cy="359197"/>
            <a:chOff x="0" y="0"/>
            <a:chExt cx="5029200" cy="4789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29200" cy="478929"/>
            </a:xfrm>
            <a:custGeom>
              <a:avLst/>
              <a:gdLst/>
              <a:ahLst/>
              <a:cxnLst/>
              <a:rect r="r" b="b" t="t" l="l"/>
              <a:pathLst>
                <a:path h="478929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607" r="0" b="-14661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02920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CDE1F2"/>
                  </a:solidFill>
                  <a:latin typeface="Garuda"/>
                  <a:ea typeface="Garuda"/>
                  <a:cs typeface="Garuda"/>
                  <a:sym typeface="Garuda"/>
                </a:rPr>
                <a:t>ดูคำที่ปรากฏบ่อยจากคอลัมน์ author_keywords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3495" y="5915787"/>
            <a:ext cx="485394" cy="485394"/>
            <a:chOff x="0" y="0"/>
            <a:chExt cx="647192" cy="6471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192" cy="647192"/>
            </a:xfrm>
            <a:custGeom>
              <a:avLst/>
              <a:gdLst/>
              <a:ahLst/>
              <a:cxnLst/>
              <a:rect r="r" b="b" t="t" l="l"/>
              <a:pathLst>
                <a:path h="647192" w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5939028"/>
            <a:ext cx="466344" cy="478874"/>
            <a:chOff x="0" y="0"/>
            <a:chExt cx="621792" cy="6384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" cy="638499"/>
            </a:xfrm>
            <a:custGeom>
              <a:avLst/>
              <a:gdLst/>
              <a:ahLst/>
              <a:cxnLst/>
              <a:rect r="r" b="b" t="t" l="l"/>
              <a:pathLst>
                <a:path h="63849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529" t="0" r="-74529" b="54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21792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47672" y="5897880"/>
            <a:ext cx="3840480" cy="478874"/>
            <a:chOff x="0" y="0"/>
            <a:chExt cx="5120640" cy="638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0640" cy="638499"/>
            </a:xfrm>
            <a:custGeom>
              <a:avLst/>
              <a:gdLst/>
              <a:ahLst/>
              <a:cxnLst/>
              <a:rect r="r" b="b" t="t" l="l"/>
              <a:pathLst>
                <a:path h="63849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63" r="0" b="-9206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1206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Abstract Length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47672" y="6268212"/>
            <a:ext cx="3771900" cy="359197"/>
            <a:chOff x="0" y="0"/>
            <a:chExt cx="5029200" cy="4789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29200" cy="478929"/>
            </a:xfrm>
            <a:custGeom>
              <a:avLst/>
              <a:gdLst/>
              <a:ahLst/>
              <a:cxnLst/>
              <a:rect r="r" b="b" t="t" l="l"/>
              <a:pathLst>
                <a:path h="478929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607" r="0" b="-14661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02920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CDE1F2"/>
                  </a:solidFill>
                  <a:latin typeface="Garuda"/>
                  <a:ea typeface="Garuda"/>
                  <a:cs typeface="Garuda"/>
                  <a:sym typeface="Garuda"/>
                </a:rPr>
                <a:t>สำรวจปริมาณข้อความ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93495" y="6848475"/>
            <a:ext cx="485394" cy="485394"/>
            <a:chOff x="0" y="0"/>
            <a:chExt cx="647192" cy="6471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7192" cy="647192"/>
            </a:xfrm>
            <a:custGeom>
              <a:avLst/>
              <a:gdLst/>
              <a:ahLst/>
              <a:cxnLst/>
              <a:rect r="r" b="b" t="t" l="l"/>
              <a:pathLst>
                <a:path h="647192" w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2A78C7"/>
            </a:solidFill>
            <a:ln w="19050" cap="sq">
              <a:solidFill>
                <a:srgbClr val="2A78C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03020" y="6871716"/>
            <a:ext cx="466344" cy="478874"/>
            <a:chOff x="0" y="0"/>
            <a:chExt cx="621792" cy="63849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1792" cy="638499"/>
            </a:xfrm>
            <a:custGeom>
              <a:avLst/>
              <a:gdLst/>
              <a:ahLst/>
              <a:cxnLst/>
              <a:rect r="r" b="b" t="t" l="l"/>
              <a:pathLst>
                <a:path h="63849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529" t="0" r="-74529" b="54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21792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47672" y="6830568"/>
            <a:ext cx="3840480" cy="478874"/>
            <a:chOff x="0" y="0"/>
            <a:chExt cx="5120640" cy="63849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0" cy="638499"/>
            </a:xfrm>
            <a:custGeom>
              <a:avLst/>
              <a:gdLst/>
              <a:ahLst/>
              <a:cxnLst/>
              <a:rect r="r" b="b" t="t" l="l"/>
              <a:pathLst>
                <a:path h="63849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38499"/>
                  </a:lnTo>
                  <a:lnTo>
                    <a:pt x="0" y="63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63" r="0" b="-9206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1206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Feature Fields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47672" y="7200900"/>
            <a:ext cx="3771900" cy="359197"/>
            <a:chOff x="0" y="0"/>
            <a:chExt cx="5029200" cy="4789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29200" cy="478929"/>
            </a:xfrm>
            <a:custGeom>
              <a:avLst/>
              <a:gdLst/>
              <a:ahLst/>
              <a:cxnLst/>
              <a:rect r="r" b="b" t="t" l="l"/>
              <a:pathLst>
                <a:path h="478929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607" r="0" b="-1466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02920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CDE1F2"/>
                  </a:solidFill>
                  <a:latin typeface="Garuda"/>
                  <a:ea typeface="Garuda"/>
                  <a:cs typeface="Garuda"/>
                  <a:sym typeface="Garuda"/>
                </a:rPr>
                <a:t>เลือก 4 ช่องสำคัญ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93495" y="7561707"/>
            <a:ext cx="3859530" cy="512826"/>
            <a:chOff x="0" y="0"/>
            <a:chExt cx="5146040" cy="6837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46040" cy="683768"/>
            </a:xfrm>
            <a:custGeom>
              <a:avLst/>
              <a:gdLst/>
              <a:ahLst/>
              <a:cxnLst/>
              <a:rect r="r" b="b" t="t" l="l"/>
              <a:pathLst>
                <a:path h="683768" w="514604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4994148" y="0"/>
                  </a:lnTo>
                  <a:cubicBezTo>
                    <a:pt x="5078095" y="0"/>
                    <a:pt x="5146040" y="68072"/>
                    <a:pt x="5146040" y="151892"/>
                  </a:cubicBezTo>
                  <a:lnTo>
                    <a:pt x="5146040" y="531876"/>
                  </a:lnTo>
                  <a:cubicBezTo>
                    <a:pt x="5146040" y="615823"/>
                    <a:pt x="5077968" y="683768"/>
                    <a:pt x="499414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1E4C79"/>
            </a:solidFill>
            <a:ln w="19050" cap="sq">
              <a:solidFill>
                <a:srgbClr val="1E4C7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12748" y="7598664"/>
            <a:ext cx="3621024" cy="405318"/>
            <a:chOff x="0" y="0"/>
            <a:chExt cx="4828032" cy="5404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28032" cy="540424"/>
            </a:xfrm>
            <a:custGeom>
              <a:avLst/>
              <a:gdLst/>
              <a:ahLst/>
              <a:cxnLst/>
              <a:rect r="r" b="b" t="t" l="l"/>
              <a:pathLst>
                <a:path h="54042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99" r="0" b="-1214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82803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6F3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4 fields → 1 embedding_text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917055" y="2815971"/>
            <a:ext cx="10470642" cy="5783285"/>
            <a:chOff x="0" y="0"/>
            <a:chExt cx="13960856" cy="771104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960856" cy="7711048"/>
            </a:xfrm>
            <a:custGeom>
              <a:avLst/>
              <a:gdLst/>
              <a:ahLst/>
              <a:cxnLst/>
              <a:rect r="r" b="b" t="t" l="l"/>
              <a:pathLst>
                <a:path h="7711048" w="13960856">
                  <a:moveTo>
                    <a:pt x="0" y="234249"/>
                  </a:moveTo>
                  <a:cubicBezTo>
                    <a:pt x="0" y="104831"/>
                    <a:pt x="98552" y="0"/>
                    <a:pt x="220218" y="0"/>
                  </a:cubicBezTo>
                  <a:lnTo>
                    <a:pt x="13740637" y="0"/>
                  </a:lnTo>
                  <a:cubicBezTo>
                    <a:pt x="13862304" y="0"/>
                    <a:pt x="13960856" y="104831"/>
                    <a:pt x="13960856" y="234249"/>
                  </a:cubicBezTo>
                  <a:lnTo>
                    <a:pt x="13960856" y="7476798"/>
                  </a:lnTo>
                  <a:cubicBezTo>
                    <a:pt x="13960856" y="7606216"/>
                    <a:pt x="13862304" y="7711048"/>
                    <a:pt x="13740637" y="7711048"/>
                  </a:cubicBezTo>
                  <a:lnTo>
                    <a:pt x="220218" y="7711048"/>
                  </a:lnTo>
                  <a:cubicBezTo>
                    <a:pt x="98552" y="7711047"/>
                    <a:pt x="0" y="7606216"/>
                    <a:pt x="0" y="74767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7351776" y="3236976"/>
            <a:ext cx="3840480" cy="727819"/>
            <a:chOff x="0" y="0"/>
            <a:chExt cx="5120640" cy="97042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20640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010" r="0" b="-386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5120640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Text Concatenation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351776" y="3867912"/>
            <a:ext cx="9258300" cy="442179"/>
            <a:chOff x="0" y="0"/>
            <a:chExt cx="12344400" cy="58957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344400" cy="589571"/>
            </a:xfrm>
            <a:custGeom>
              <a:avLst/>
              <a:gdLst/>
              <a:ahLst/>
              <a:cxnLst/>
              <a:rect r="r" b="b" t="t" l="l"/>
              <a:pathLst>
                <a:path h="589571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589571"/>
                  </a:lnTo>
                  <a:lnTo>
                    <a:pt x="0" y="58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45" r="0" b="-35760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2344400" cy="58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ใส่ Prefix เพื่อให้โมเดลรู้ว่าแต่ละส่วนคือบริบทชนิดใด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44156" y="4587240"/>
            <a:ext cx="9177528" cy="618744"/>
            <a:chOff x="0" y="0"/>
            <a:chExt cx="12236704" cy="8249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236704" cy="824992"/>
            </a:xfrm>
            <a:custGeom>
              <a:avLst/>
              <a:gdLst/>
              <a:ahLst/>
              <a:cxnLst/>
              <a:rect r="r" b="b" t="t" l="l"/>
              <a:pathLst>
                <a:path h="824992" w="12236704">
                  <a:moveTo>
                    <a:pt x="0" y="93726"/>
                  </a:moveTo>
                  <a:cubicBezTo>
                    <a:pt x="0" y="42037"/>
                    <a:pt x="42037" y="0"/>
                    <a:pt x="93726" y="0"/>
                  </a:cubicBezTo>
                  <a:lnTo>
                    <a:pt x="12142978" y="0"/>
                  </a:lnTo>
                  <a:cubicBezTo>
                    <a:pt x="12194794" y="0"/>
                    <a:pt x="12236704" y="42037"/>
                    <a:pt x="12236704" y="93726"/>
                  </a:cubicBezTo>
                  <a:lnTo>
                    <a:pt x="12236704" y="731266"/>
                  </a:lnTo>
                  <a:cubicBezTo>
                    <a:pt x="12236704" y="783082"/>
                    <a:pt x="12194667" y="824992"/>
                    <a:pt x="12142978" y="824992"/>
                  </a:cubicBezTo>
                  <a:lnTo>
                    <a:pt x="93726" y="824992"/>
                  </a:lnTo>
                  <a:cubicBezTo>
                    <a:pt x="42037" y="824992"/>
                    <a:pt x="0" y="782955"/>
                    <a:pt x="0" y="731266"/>
                  </a:cubicBezTo>
                  <a:close/>
                </a:path>
              </a:pathLst>
            </a:custGeom>
            <a:solidFill>
              <a:srgbClr val="EAF3FB"/>
            </a:solidFill>
            <a:ln w="15240" cap="sq">
              <a:solidFill>
                <a:srgbClr val="D5E4F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584948" y="4677156"/>
            <a:ext cx="1783080" cy="405318"/>
            <a:chOff x="0" y="0"/>
            <a:chExt cx="2377440" cy="5404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77440" cy="540424"/>
            </a:xfrm>
            <a:custGeom>
              <a:avLst/>
              <a:gdLst/>
              <a:ahLst/>
              <a:cxnLst/>
              <a:rect r="r" b="b" t="t" l="l"/>
              <a:pathLst>
                <a:path h="54042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94" r="0" b="-2294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237744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Title: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0" y="4677156"/>
            <a:ext cx="6473952" cy="405318"/>
            <a:chOff x="0" y="0"/>
            <a:chExt cx="8631936" cy="5404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631936" cy="540424"/>
            </a:xfrm>
            <a:custGeom>
              <a:avLst/>
              <a:gdLst/>
              <a:ahLst/>
              <a:cxnLst/>
              <a:rect r="r" b="b" t="t" l="l"/>
              <a:pathLst>
                <a:path h="540424" w="8631936">
                  <a:moveTo>
                    <a:pt x="0" y="0"/>
                  </a:moveTo>
                  <a:lnTo>
                    <a:pt x="8631936" y="0"/>
                  </a:lnTo>
                  <a:lnTo>
                    <a:pt x="863193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001" r="0" b="-24844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863193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[ชื่อเรื่อง]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344156" y="5355336"/>
            <a:ext cx="9177528" cy="618744"/>
            <a:chOff x="0" y="0"/>
            <a:chExt cx="12236704" cy="8249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236704" cy="824992"/>
            </a:xfrm>
            <a:custGeom>
              <a:avLst/>
              <a:gdLst/>
              <a:ahLst/>
              <a:cxnLst/>
              <a:rect r="r" b="b" t="t" l="l"/>
              <a:pathLst>
                <a:path h="824992" w="12236704">
                  <a:moveTo>
                    <a:pt x="0" y="93726"/>
                  </a:moveTo>
                  <a:cubicBezTo>
                    <a:pt x="0" y="42037"/>
                    <a:pt x="42037" y="0"/>
                    <a:pt x="93726" y="0"/>
                  </a:cubicBezTo>
                  <a:lnTo>
                    <a:pt x="12142978" y="0"/>
                  </a:lnTo>
                  <a:cubicBezTo>
                    <a:pt x="12194794" y="0"/>
                    <a:pt x="12236704" y="42037"/>
                    <a:pt x="12236704" y="93726"/>
                  </a:cubicBezTo>
                  <a:lnTo>
                    <a:pt x="12236704" y="731266"/>
                  </a:lnTo>
                  <a:cubicBezTo>
                    <a:pt x="12236704" y="783082"/>
                    <a:pt x="12194667" y="824992"/>
                    <a:pt x="12142978" y="824992"/>
                  </a:cubicBezTo>
                  <a:lnTo>
                    <a:pt x="93726" y="824992"/>
                  </a:lnTo>
                  <a:cubicBezTo>
                    <a:pt x="42037" y="824992"/>
                    <a:pt x="0" y="782955"/>
                    <a:pt x="0" y="731266"/>
                  </a:cubicBezTo>
                  <a:close/>
                </a:path>
              </a:pathLst>
            </a:custGeom>
            <a:solidFill>
              <a:srgbClr val="F8FBFE"/>
            </a:solidFill>
            <a:ln w="15240" cap="sq">
              <a:solidFill>
                <a:srgbClr val="D5E4F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7584948" y="5445252"/>
            <a:ext cx="1783080" cy="405318"/>
            <a:chOff x="0" y="0"/>
            <a:chExt cx="2377440" cy="5404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77440" cy="540424"/>
            </a:xfrm>
            <a:custGeom>
              <a:avLst/>
              <a:gdLst/>
              <a:ahLst/>
              <a:cxnLst/>
              <a:rect r="r" b="b" t="t" l="l"/>
              <a:pathLst>
                <a:path h="54042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94" r="0" b="-2294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237744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Abstract: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01200" y="5445252"/>
            <a:ext cx="6473952" cy="405318"/>
            <a:chOff x="0" y="0"/>
            <a:chExt cx="8631936" cy="5404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631936" cy="540424"/>
            </a:xfrm>
            <a:custGeom>
              <a:avLst/>
              <a:gdLst/>
              <a:ahLst/>
              <a:cxnLst/>
              <a:rect r="r" b="b" t="t" l="l"/>
              <a:pathLst>
                <a:path h="540424" w="8631936">
                  <a:moveTo>
                    <a:pt x="0" y="0"/>
                  </a:moveTo>
                  <a:lnTo>
                    <a:pt x="8631936" y="0"/>
                  </a:lnTo>
                  <a:lnTo>
                    <a:pt x="863193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001" r="0" b="-24844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863193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[บทคัดย่อ]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344156" y="6123432"/>
            <a:ext cx="9177528" cy="618744"/>
            <a:chOff x="0" y="0"/>
            <a:chExt cx="12236704" cy="8249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236704" cy="824992"/>
            </a:xfrm>
            <a:custGeom>
              <a:avLst/>
              <a:gdLst/>
              <a:ahLst/>
              <a:cxnLst/>
              <a:rect r="r" b="b" t="t" l="l"/>
              <a:pathLst>
                <a:path h="824992" w="12236704">
                  <a:moveTo>
                    <a:pt x="0" y="93726"/>
                  </a:moveTo>
                  <a:cubicBezTo>
                    <a:pt x="0" y="42037"/>
                    <a:pt x="42037" y="0"/>
                    <a:pt x="93726" y="0"/>
                  </a:cubicBezTo>
                  <a:lnTo>
                    <a:pt x="12142978" y="0"/>
                  </a:lnTo>
                  <a:cubicBezTo>
                    <a:pt x="12194794" y="0"/>
                    <a:pt x="12236704" y="42037"/>
                    <a:pt x="12236704" y="93726"/>
                  </a:cubicBezTo>
                  <a:lnTo>
                    <a:pt x="12236704" y="731266"/>
                  </a:lnTo>
                  <a:cubicBezTo>
                    <a:pt x="12236704" y="783082"/>
                    <a:pt x="12194667" y="824992"/>
                    <a:pt x="12142978" y="824992"/>
                  </a:cubicBezTo>
                  <a:lnTo>
                    <a:pt x="93726" y="824992"/>
                  </a:lnTo>
                  <a:cubicBezTo>
                    <a:pt x="42037" y="824992"/>
                    <a:pt x="0" y="782955"/>
                    <a:pt x="0" y="731266"/>
                  </a:cubicBezTo>
                  <a:close/>
                </a:path>
              </a:pathLst>
            </a:custGeom>
            <a:solidFill>
              <a:srgbClr val="F8FBFE"/>
            </a:solidFill>
            <a:ln w="15240" cap="sq">
              <a:solidFill>
                <a:srgbClr val="D5E4F0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7584948" y="6213348"/>
            <a:ext cx="1783080" cy="405318"/>
            <a:chOff x="0" y="0"/>
            <a:chExt cx="2377440" cy="5404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377440" cy="540424"/>
            </a:xfrm>
            <a:custGeom>
              <a:avLst/>
              <a:gdLst/>
              <a:ahLst/>
              <a:cxnLst/>
              <a:rect r="r" b="b" t="t" l="l"/>
              <a:pathLst>
                <a:path h="54042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94" r="0" b="-2294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37744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Author keywords: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01200" y="6213348"/>
            <a:ext cx="6473952" cy="405318"/>
            <a:chOff x="0" y="0"/>
            <a:chExt cx="8631936" cy="54042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631936" cy="540424"/>
            </a:xfrm>
            <a:custGeom>
              <a:avLst/>
              <a:gdLst/>
              <a:ahLst/>
              <a:cxnLst/>
              <a:rect r="r" b="b" t="t" l="l"/>
              <a:pathLst>
                <a:path h="540424" w="8631936">
                  <a:moveTo>
                    <a:pt x="0" y="0"/>
                  </a:moveTo>
                  <a:lnTo>
                    <a:pt x="8631936" y="0"/>
                  </a:lnTo>
                  <a:lnTo>
                    <a:pt x="863193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001" r="0" b="-24844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863193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[คำสำคัญ]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44156" y="6891528"/>
            <a:ext cx="9177528" cy="618744"/>
            <a:chOff x="0" y="0"/>
            <a:chExt cx="12236704" cy="8249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236704" cy="824992"/>
            </a:xfrm>
            <a:custGeom>
              <a:avLst/>
              <a:gdLst/>
              <a:ahLst/>
              <a:cxnLst/>
              <a:rect r="r" b="b" t="t" l="l"/>
              <a:pathLst>
                <a:path h="824992" w="12236704">
                  <a:moveTo>
                    <a:pt x="0" y="93726"/>
                  </a:moveTo>
                  <a:cubicBezTo>
                    <a:pt x="0" y="42037"/>
                    <a:pt x="42037" y="0"/>
                    <a:pt x="93726" y="0"/>
                  </a:cubicBezTo>
                  <a:lnTo>
                    <a:pt x="12142978" y="0"/>
                  </a:lnTo>
                  <a:cubicBezTo>
                    <a:pt x="12194794" y="0"/>
                    <a:pt x="12236704" y="42037"/>
                    <a:pt x="12236704" y="93726"/>
                  </a:cubicBezTo>
                  <a:lnTo>
                    <a:pt x="12236704" y="731266"/>
                  </a:lnTo>
                  <a:cubicBezTo>
                    <a:pt x="12236704" y="783082"/>
                    <a:pt x="12194667" y="824992"/>
                    <a:pt x="12142978" y="824992"/>
                  </a:cubicBezTo>
                  <a:lnTo>
                    <a:pt x="93726" y="824992"/>
                  </a:lnTo>
                  <a:cubicBezTo>
                    <a:pt x="42037" y="824992"/>
                    <a:pt x="0" y="782955"/>
                    <a:pt x="0" y="731266"/>
                  </a:cubicBezTo>
                  <a:close/>
                </a:path>
              </a:pathLst>
            </a:custGeom>
            <a:solidFill>
              <a:srgbClr val="F8FBFE"/>
            </a:solidFill>
            <a:ln w="15240" cap="sq">
              <a:solidFill>
                <a:srgbClr val="D5E4F0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7584948" y="6981444"/>
            <a:ext cx="1783080" cy="405318"/>
            <a:chOff x="0" y="0"/>
            <a:chExt cx="2377440" cy="54042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77440" cy="540424"/>
            </a:xfrm>
            <a:custGeom>
              <a:avLst/>
              <a:gdLst/>
              <a:ahLst/>
              <a:cxnLst/>
              <a:rect r="r" b="b" t="t" l="l"/>
              <a:pathLst>
                <a:path h="54042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94" r="0" b="-2294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237744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Index keywords: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01200" y="6981444"/>
            <a:ext cx="6473952" cy="405318"/>
            <a:chOff x="0" y="0"/>
            <a:chExt cx="8631936" cy="54042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631936" cy="540424"/>
            </a:xfrm>
            <a:custGeom>
              <a:avLst/>
              <a:gdLst/>
              <a:ahLst/>
              <a:cxnLst/>
              <a:rect r="r" b="b" t="t" l="l"/>
              <a:pathLst>
                <a:path h="540424" w="8631936">
                  <a:moveTo>
                    <a:pt x="0" y="0"/>
                  </a:moveTo>
                  <a:lnTo>
                    <a:pt x="8631936" y="0"/>
                  </a:lnTo>
                  <a:lnTo>
                    <a:pt x="863193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001" r="0" b="-24844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863193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[คำสำคัญดัชนี]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222085" y="7881747"/>
            <a:ext cx="7399171" cy="745541"/>
            <a:chOff x="0" y="0"/>
            <a:chExt cx="9865561" cy="99405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865561" cy="994054"/>
            </a:xfrm>
            <a:custGeom>
              <a:avLst/>
              <a:gdLst/>
              <a:ahLst/>
              <a:cxnLst/>
              <a:rect r="r" b="b" t="t" l="l"/>
              <a:pathLst>
                <a:path h="994054" w="9865561">
                  <a:moveTo>
                    <a:pt x="0" y="0"/>
                  </a:moveTo>
                  <a:lnTo>
                    <a:pt x="9865561" y="0"/>
                  </a:lnTo>
                  <a:lnTo>
                    <a:pt x="9865561" y="994054"/>
                  </a:lnTo>
                  <a:lnTo>
                    <a:pt x="0" y="9940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45" r="44388" b="-3053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9865561" cy="994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ผลลัพธ์: dataset สะอาด 5,459 รายการ พร้อมนำไปสร้าง Visualization และเตรียมข้อความสำหรับ Embedding ต่อ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499467" y="7465695"/>
            <a:ext cx="4243578" cy="512826"/>
            <a:chOff x="0" y="0"/>
            <a:chExt cx="5658104" cy="68376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658104" cy="683768"/>
            </a:xfrm>
            <a:custGeom>
              <a:avLst/>
              <a:gdLst/>
              <a:ahLst/>
              <a:cxnLst/>
              <a:rect r="r" b="b" t="t" l="l"/>
              <a:pathLst>
                <a:path h="683768" w="5658104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5506212" y="0"/>
                  </a:lnTo>
                  <a:cubicBezTo>
                    <a:pt x="5590159" y="0"/>
                    <a:pt x="5658104" y="68072"/>
                    <a:pt x="5658104" y="151892"/>
                  </a:cubicBezTo>
                  <a:lnTo>
                    <a:pt x="5658104" y="531876"/>
                  </a:lnTo>
                  <a:cubicBezTo>
                    <a:pt x="5658104" y="615823"/>
                    <a:pt x="5590032" y="683768"/>
                    <a:pt x="5506212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DF6FF"/>
            </a:solidFill>
            <a:ln w="19050" cap="sq">
              <a:solidFill>
                <a:srgbClr val="EDF6FF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618720" y="7502652"/>
            <a:ext cx="4005072" cy="405318"/>
            <a:chOff x="0" y="0"/>
            <a:chExt cx="5340096" cy="5404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40096" cy="540424"/>
            </a:xfrm>
            <a:custGeom>
              <a:avLst/>
              <a:gdLst/>
              <a:ahLst/>
              <a:cxnLst/>
              <a:rect r="r" b="b" t="t" l="l"/>
              <a:pathLst>
                <a:path h="540424" w="5340096">
                  <a:moveTo>
                    <a:pt x="0" y="0"/>
                  </a:moveTo>
                  <a:lnTo>
                    <a:pt x="5340096" y="0"/>
                  </a:lnTo>
                  <a:lnTo>
                    <a:pt x="534009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161" r="0" b="-13991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534009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รักษาบริบทก่อนแปลงเป็นเวกเตอร์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322336"/>
            <a:chOff x="0" y="0"/>
            <a:chExt cx="5852160" cy="4297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429781"/>
            </a:xfrm>
            <a:custGeom>
              <a:avLst/>
              <a:gdLst/>
              <a:ahLst/>
              <a:cxnLst/>
              <a:rect r="r" b="b" t="t" l="l"/>
              <a:pathLst>
                <a:path h="4297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9781"/>
                  </a:lnTo>
                  <a:lnTo>
                    <a:pt x="0" y="429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278" r="0" b="-1993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429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05 • VISUALIZATION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การทำ</a:t>
              </a: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Visualization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673352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สร้างด้วยภาษา Python (ไลบรารี wordcloud) จากคอลัมน์ author_keywords ทั้งหมด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69887" y="2352417"/>
            <a:ext cx="12033981" cy="4606583"/>
            <a:chOff x="0" y="0"/>
            <a:chExt cx="22281520" cy="8529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81519" cy="8529320"/>
            </a:xfrm>
            <a:custGeom>
              <a:avLst/>
              <a:gdLst/>
              <a:ahLst/>
              <a:cxnLst/>
              <a:rect r="r" b="b" t="t" l="l"/>
              <a:pathLst>
                <a:path h="8529320" w="22281519">
                  <a:moveTo>
                    <a:pt x="0" y="220091"/>
                  </a:moveTo>
                  <a:cubicBezTo>
                    <a:pt x="0" y="98552"/>
                    <a:pt x="146182" y="0"/>
                    <a:pt x="326462" y="0"/>
                  </a:cubicBezTo>
                  <a:lnTo>
                    <a:pt x="21955058" y="0"/>
                  </a:lnTo>
                  <a:cubicBezTo>
                    <a:pt x="22135339" y="0"/>
                    <a:pt x="22281519" y="98552"/>
                    <a:pt x="22281519" y="220091"/>
                  </a:cubicBezTo>
                  <a:lnTo>
                    <a:pt x="22281519" y="8309229"/>
                  </a:lnTo>
                  <a:cubicBezTo>
                    <a:pt x="22281519" y="8430768"/>
                    <a:pt x="22135339" y="8529320"/>
                    <a:pt x="21955058" y="8529320"/>
                  </a:cubicBezTo>
                  <a:lnTo>
                    <a:pt x="326462" y="8529320"/>
                  </a:lnTo>
                  <a:cubicBezTo>
                    <a:pt x="146182" y="8529320"/>
                    <a:pt x="0" y="8430768"/>
                    <a:pt x="0" y="83092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455837" y="2444708"/>
            <a:ext cx="7482805" cy="4436316"/>
            <a:chOff x="0" y="0"/>
            <a:chExt cx="13726763" cy="8138160"/>
          </a:xfrm>
        </p:grpSpPr>
        <p:sp>
          <p:nvSpPr>
            <p:cNvPr name="Freeform 20" id="20" descr="/mnt/data/work/crops/wordcloud.png"/>
            <p:cNvSpPr/>
            <p:nvPr/>
          </p:nvSpPr>
          <p:spPr>
            <a:xfrm flipH="false" flipV="false" rot="0">
              <a:off x="0" y="0"/>
              <a:ext cx="13726776" cy="8138160"/>
            </a:xfrm>
            <a:custGeom>
              <a:avLst/>
              <a:gdLst/>
              <a:ahLst/>
              <a:cxnLst/>
              <a:rect r="r" b="b" t="t" l="l"/>
              <a:pathLst>
                <a:path h="8138160" w="13726776">
                  <a:moveTo>
                    <a:pt x="0" y="0"/>
                  </a:moveTo>
                  <a:lnTo>
                    <a:pt x="13726776" y="0"/>
                  </a:lnTo>
                  <a:lnTo>
                    <a:pt x="13726776" y="8138160"/>
                  </a:lnTo>
                  <a:lnTo>
                    <a:pt x="0" y="813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28" t="0" r="-222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41411" y="2352417"/>
            <a:ext cx="4847082" cy="6396990"/>
            <a:chOff x="0" y="0"/>
            <a:chExt cx="6462776" cy="8529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62776" cy="8529320"/>
            </a:xfrm>
            <a:custGeom>
              <a:avLst/>
              <a:gdLst/>
              <a:ahLst/>
              <a:cxnLst/>
              <a:rect r="r" b="b" t="t" l="l"/>
              <a:pathLst>
                <a:path h="8529320" w="6462776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42431" y="0"/>
                  </a:lnTo>
                  <a:cubicBezTo>
                    <a:pt x="6364097" y="0"/>
                    <a:pt x="6462776" y="98679"/>
                    <a:pt x="6462776" y="220345"/>
                  </a:cubicBezTo>
                  <a:lnTo>
                    <a:pt x="6462776" y="8308975"/>
                  </a:lnTo>
                  <a:cubicBezTo>
                    <a:pt x="6462776" y="8430641"/>
                    <a:pt x="6364097" y="8529320"/>
                    <a:pt x="6242431" y="8529320"/>
                  </a:cubicBezTo>
                  <a:lnTo>
                    <a:pt x="220345" y="8529320"/>
                  </a:lnTo>
                  <a:cubicBezTo>
                    <a:pt x="98679" y="8529320"/>
                    <a:pt x="0" y="8430641"/>
                    <a:pt x="0" y="83089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52891" y="2736465"/>
            <a:ext cx="2076450" cy="512826"/>
            <a:chOff x="0" y="0"/>
            <a:chExt cx="2768600" cy="6837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68600" cy="683768"/>
            </a:xfrm>
            <a:custGeom>
              <a:avLst/>
              <a:gdLst/>
              <a:ahLst/>
              <a:cxnLst/>
              <a:rect r="r" b="b" t="t" l="l"/>
              <a:pathLst>
                <a:path h="683768" w="27686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2616708" y="0"/>
                  </a:lnTo>
                  <a:cubicBezTo>
                    <a:pt x="2700528" y="0"/>
                    <a:pt x="2768600" y="68072"/>
                    <a:pt x="2768600" y="151892"/>
                  </a:cubicBezTo>
                  <a:lnTo>
                    <a:pt x="2768600" y="531876"/>
                  </a:lnTo>
                  <a:cubicBezTo>
                    <a:pt x="2768600" y="615823"/>
                    <a:pt x="2700528" y="683768"/>
                    <a:pt x="26167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EAF3F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472144" y="2773422"/>
            <a:ext cx="1837944" cy="405318"/>
            <a:chOff x="0" y="0"/>
            <a:chExt cx="2450592" cy="540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50592" cy="540424"/>
            </a:xfrm>
            <a:custGeom>
              <a:avLst/>
              <a:gdLst/>
              <a:ahLst/>
              <a:cxnLst/>
              <a:rect r="r" b="b" t="t" l="l"/>
              <a:pathLst>
                <a:path h="540424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0" r="0" b="-3573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5059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TOP SIGNALS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62416" y="3596382"/>
            <a:ext cx="3771900" cy="525160"/>
            <a:chOff x="0" y="0"/>
            <a:chExt cx="5029200" cy="7002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29200" cy="700214"/>
            </a:xfrm>
            <a:custGeom>
              <a:avLst/>
              <a:gdLst/>
              <a:ahLst/>
              <a:cxnLst/>
              <a:rect r="r" b="b" t="t" l="l"/>
              <a:pathLst>
                <a:path h="70021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00214"/>
                  </a:lnTo>
                  <a:lnTo>
                    <a:pt x="0" y="7002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2" r="0" b="-791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029200" cy="7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Deep Learning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62416" y="4021578"/>
            <a:ext cx="3634740" cy="359197"/>
            <a:chOff x="0" y="0"/>
            <a:chExt cx="4846320" cy="4789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46320" cy="478929"/>
            </a:xfrm>
            <a:custGeom>
              <a:avLst/>
              <a:gdLst/>
              <a:ahLst/>
              <a:cxnLst/>
              <a:rect r="r" b="b" t="t" l="l"/>
              <a:pathLst>
                <a:path h="478929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66" r="0" b="-13917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84632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เด่นที่สุด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62416" y="4597650"/>
            <a:ext cx="3771900" cy="525160"/>
            <a:chOff x="0" y="0"/>
            <a:chExt cx="5029200" cy="70021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700214"/>
            </a:xfrm>
            <a:custGeom>
              <a:avLst/>
              <a:gdLst/>
              <a:ahLst/>
              <a:cxnLst/>
              <a:rect r="r" b="b" t="t" l="l"/>
              <a:pathLst>
                <a:path h="70021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00214"/>
                  </a:lnTo>
                  <a:lnTo>
                    <a:pt x="0" y="7002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2" r="0" b="-791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029200" cy="7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Machine Learning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362416" y="5022846"/>
            <a:ext cx="3634740" cy="359197"/>
            <a:chOff x="0" y="0"/>
            <a:chExt cx="4846320" cy="4789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46320" cy="478929"/>
            </a:xfrm>
            <a:custGeom>
              <a:avLst/>
              <a:gdLst/>
              <a:ahLst/>
              <a:cxnLst/>
              <a:rect r="r" b="b" t="t" l="l"/>
              <a:pathLst>
                <a:path h="478929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66" r="0" b="-139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84632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กลุ่มฐานราก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62416" y="5598918"/>
            <a:ext cx="3771900" cy="525160"/>
            <a:chOff x="0" y="0"/>
            <a:chExt cx="5029200" cy="7002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29200" cy="700214"/>
            </a:xfrm>
            <a:custGeom>
              <a:avLst/>
              <a:gdLst/>
              <a:ahLst/>
              <a:cxnLst/>
              <a:rect r="r" b="b" t="t" l="l"/>
              <a:pathLst>
                <a:path h="70021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00214"/>
                  </a:lnTo>
                  <a:lnTo>
                    <a:pt x="0" y="7002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2" r="0" b="-791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029200" cy="7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Artificial Intelligence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362416" y="6024114"/>
            <a:ext cx="3634740" cy="359197"/>
            <a:chOff x="0" y="0"/>
            <a:chExt cx="4846320" cy="4789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46320" cy="478929"/>
            </a:xfrm>
            <a:custGeom>
              <a:avLst/>
              <a:gdLst/>
              <a:ahLst/>
              <a:cxnLst/>
              <a:rect r="r" b="b" t="t" l="l"/>
              <a:pathLst>
                <a:path h="478929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66" r="0" b="-13917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84632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แกนกลาง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362416" y="6600186"/>
            <a:ext cx="3771900" cy="525160"/>
            <a:chOff x="0" y="0"/>
            <a:chExt cx="5029200" cy="70021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29200" cy="700214"/>
            </a:xfrm>
            <a:custGeom>
              <a:avLst/>
              <a:gdLst/>
              <a:ahLst/>
              <a:cxnLst/>
              <a:rect r="r" b="b" t="t" l="l"/>
              <a:pathLst>
                <a:path h="70021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00214"/>
                  </a:lnTo>
                  <a:lnTo>
                    <a:pt x="0" y="7002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2" r="0" b="-791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029200" cy="7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Neural Network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62416" y="7025382"/>
            <a:ext cx="3634740" cy="359197"/>
            <a:chOff x="0" y="0"/>
            <a:chExt cx="4846320" cy="4789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46320" cy="478929"/>
            </a:xfrm>
            <a:custGeom>
              <a:avLst/>
              <a:gdLst/>
              <a:ahLst/>
              <a:cxnLst/>
              <a:rect r="r" b="b" t="t" l="l"/>
              <a:pathLst>
                <a:path h="478929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78929"/>
                  </a:lnTo>
                  <a:lnTo>
                    <a:pt x="0" y="478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66" r="0" b="-13917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846320" cy="48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โมเดลสำคัญ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62416" y="7409430"/>
            <a:ext cx="1371600" cy="405318"/>
            <a:chOff x="0" y="0"/>
            <a:chExt cx="1828800" cy="5404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0" cy="540424"/>
            </a:xfrm>
            <a:custGeom>
              <a:avLst/>
              <a:gdLst/>
              <a:ahLst/>
              <a:cxnLst/>
              <a:rect r="r" b="b" t="t" l="l"/>
              <a:pathLst>
                <a:path h="5404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29" r="0" b="-654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8288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Insight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362416" y="7820910"/>
            <a:ext cx="3771900" cy="899998"/>
            <a:chOff x="0" y="0"/>
            <a:chExt cx="5029200" cy="119999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29200" cy="1199998"/>
            </a:xfrm>
            <a:custGeom>
              <a:avLst/>
              <a:gdLst/>
              <a:ahLst/>
              <a:cxnLst/>
              <a:rect r="r" b="b" t="t" l="l"/>
              <a:pathLst>
                <a:path h="119999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199998"/>
                  </a:lnTo>
                  <a:lnTo>
                    <a:pt x="0" y="1199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95" r="0" b="-1442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5029200" cy="1190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ชุดข้อมูลมี "ศูนย์กลางทางความคิด" อยู่ที่ Deep Learning / Machine Learning และ AI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7442180" y="9921240"/>
            <a:ext cx="1017118" cy="18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Garuda"/>
                <a:ea typeface="Garuda"/>
                <a:cs typeface="Garuda"/>
                <a:sym typeface="Garuda"/>
              </a:rPr>
              <a:t>6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69887" y="7168550"/>
            <a:ext cx="12371524" cy="2251101"/>
            <a:chOff x="0" y="0"/>
            <a:chExt cx="10939331" cy="199050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39332" cy="1990502"/>
            </a:xfrm>
            <a:custGeom>
              <a:avLst/>
              <a:gdLst/>
              <a:ahLst/>
              <a:cxnLst/>
              <a:rect r="r" b="b" t="t" l="l"/>
              <a:pathLst>
                <a:path h="1990502" w="10939332">
                  <a:moveTo>
                    <a:pt x="0" y="0"/>
                  </a:moveTo>
                  <a:lnTo>
                    <a:pt x="10939332" y="0"/>
                  </a:lnTo>
                  <a:lnTo>
                    <a:pt x="10939332" y="1990502"/>
                  </a:lnTo>
                  <a:lnTo>
                    <a:pt x="0" y="199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7" r="54026" b="310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39331" cy="2028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0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   เป็นกราฟที่สร้างผ่านภาษา Python (ไลบรารี wordcloud) โดยนำข้อความจากคอลัมน์ author_keywords ทั้งหมดมาประมวลผล ขนาดของตัวอักษรจะแปรผันตาม "ความถี่" ของคำนั้น คำที่ใช้งานบ่อยจะมีขนาดใหญ่และอยู่กึ่งกลาง กราฟนี้ช่วยสะท้อนภาพรวมและทิศทางของชุดข้อมูล Scopus ทั้งหมดได้อย่างรวดเร็ว โดยคำที่มีขนาดใหญ่ที่สุดอย่าง Deep Learning, Machine Learning, Artificial Intelligence, และ neural network บ่งชี้ว่าเปเปอร์ส่วนใหญ่ในชุด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69887" y="6821115"/>
            <a:ext cx="5342000" cy="862981"/>
            <a:chOff x="0" y="0"/>
            <a:chExt cx="7122666" cy="115064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22667" cy="1150641"/>
            </a:xfrm>
            <a:custGeom>
              <a:avLst/>
              <a:gdLst/>
              <a:ahLst/>
              <a:cxnLst/>
              <a:rect r="r" b="b" t="t" l="l"/>
              <a:pathLst>
                <a:path h="1150641" w="7122667">
                  <a:moveTo>
                    <a:pt x="0" y="0"/>
                  </a:moveTo>
                  <a:lnTo>
                    <a:pt x="7122667" y="0"/>
                  </a:lnTo>
                  <a:lnTo>
                    <a:pt x="7122667" y="1150641"/>
                  </a:lnTo>
                  <a:lnTo>
                    <a:pt x="0" y="1150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24" r="29391" b="-90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7122666" cy="11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</a:t>
              </a:r>
              <a:r>
                <a:rPr lang="en-US" sz="3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eyword Word Cloud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17074"/>
            <a:chOff x="0" y="0"/>
            <a:chExt cx="8229600" cy="556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56098"/>
            </a:xfrm>
            <a:custGeom>
              <a:avLst/>
              <a:gdLst/>
              <a:ahLst/>
              <a:cxnLst/>
              <a:rect r="r" b="b" t="t" l="l"/>
              <a:pathLst>
                <a:path h="55609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56098"/>
                  </a:lnTo>
                  <a:lnTo>
                    <a:pt x="0" y="556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247" r="0" b="-2294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65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06 •  KEYWORD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0108" y="1059059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สัดส่วนนิยม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57238" y="2001432"/>
            <a:ext cx="16482063" cy="22726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82015" y="2761107"/>
            <a:ext cx="8425711" cy="5353551"/>
            <a:chOff x="0" y="0"/>
            <a:chExt cx="10545644" cy="6700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5645" cy="6700520"/>
            </a:xfrm>
            <a:custGeom>
              <a:avLst/>
              <a:gdLst/>
              <a:ahLst/>
              <a:cxnLst/>
              <a:rect r="r" b="b" t="t" l="l"/>
              <a:pathLst>
                <a:path h="6700520" w="10545645">
                  <a:moveTo>
                    <a:pt x="0" y="220345"/>
                  </a:moveTo>
                  <a:cubicBezTo>
                    <a:pt x="0" y="98679"/>
                    <a:pt x="77272" y="0"/>
                    <a:pt x="172545" y="0"/>
                  </a:cubicBezTo>
                  <a:lnTo>
                    <a:pt x="10373099" y="0"/>
                  </a:lnTo>
                  <a:cubicBezTo>
                    <a:pt x="10468372" y="0"/>
                    <a:pt x="10545645" y="98679"/>
                    <a:pt x="10545645" y="220345"/>
                  </a:cubicBezTo>
                  <a:lnTo>
                    <a:pt x="10545645" y="6480175"/>
                  </a:lnTo>
                  <a:cubicBezTo>
                    <a:pt x="10545645" y="6601841"/>
                    <a:pt x="10468372" y="6700520"/>
                    <a:pt x="10373099" y="6700520"/>
                  </a:cubicBezTo>
                  <a:lnTo>
                    <a:pt x="172545" y="6700520"/>
                  </a:lnTo>
                  <a:cubicBezTo>
                    <a:pt x="77272" y="6700520"/>
                    <a:pt x="0" y="6601841"/>
                    <a:pt x="0" y="64801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3881" y="3113500"/>
            <a:ext cx="7961979" cy="4648766"/>
            <a:chOff x="0" y="0"/>
            <a:chExt cx="7808976" cy="4559432"/>
          </a:xfrm>
        </p:grpSpPr>
        <p:sp>
          <p:nvSpPr>
            <p:cNvPr name="Freeform 17" id="17" descr="/mnt/data/work/crops/treemap.png"/>
            <p:cNvSpPr/>
            <p:nvPr/>
          </p:nvSpPr>
          <p:spPr>
            <a:xfrm flipH="false" flipV="false" rot="0">
              <a:off x="0" y="0"/>
              <a:ext cx="7808976" cy="4559419"/>
            </a:xfrm>
            <a:custGeom>
              <a:avLst/>
              <a:gdLst/>
              <a:ahLst/>
              <a:cxnLst/>
              <a:rect r="r" b="b" t="t" l="l"/>
              <a:pathLst>
                <a:path h="4559419" w="7808976">
                  <a:moveTo>
                    <a:pt x="0" y="0"/>
                  </a:moveTo>
                  <a:lnTo>
                    <a:pt x="7808976" y="0"/>
                  </a:lnTo>
                  <a:lnTo>
                    <a:pt x="7808976" y="4559419"/>
                  </a:lnTo>
                  <a:lnTo>
                    <a:pt x="0" y="455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3" t="0" r="-373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51901" y="2761107"/>
            <a:ext cx="8170865" cy="5353551"/>
            <a:chOff x="0" y="0"/>
            <a:chExt cx="10545644" cy="69095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45645" cy="6909507"/>
            </a:xfrm>
            <a:custGeom>
              <a:avLst/>
              <a:gdLst/>
              <a:ahLst/>
              <a:cxnLst/>
              <a:rect r="r" b="b" t="t" l="l"/>
              <a:pathLst>
                <a:path h="6909507" w="10545645">
                  <a:moveTo>
                    <a:pt x="0" y="227217"/>
                  </a:moveTo>
                  <a:cubicBezTo>
                    <a:pt x="0" y="101757"/>
                    <a:pt x="77272" y="0"/>
                    <a:pt x="172545" y="0"/>
                  </a:cubicBezTo>
                  <a:lnTo>
                    <a:pt x="10373099" y="0"/>
                  </a:lnTo>
                  <a:cubicBezTo>
                    <a:pt x="10468372" y="0"/>
                    <a:pt x="10545645" y="101757"/>
                    <a:pt x="10545645" y="227217"/>
                  </a:cubicBezTo>
                  <a:lnTo>
                    <a:pt x="10545645" y="6682289"/>
                  </a:lnTo>
                  <a:cubicBezTo>
                    <a:pt x="10545645" y="6807750"/>
                    <a:pt x="10468372" y="6909507"/>
                    <a:pt x="10373099" y="6909507"/>
                  </a:cubicBezTo>
                  <a:lnTo>
                    <a:pt x="172545" y="6909507"/>
                  </a:lnTo>
                  <a:cubicBezTo>
                    <a:pt x="77272" y="6909507"/>
                    <a:pt x="0" y="6807750"/>
                    <a:pt x="0" y="66822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49893" y="4026776"/>
            <a:ext cx="6774880" cy="2505608"/>
            <a:chOff x="0" y="0"/>
            <a:chExt cx="7044348" cy="26052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4348" cy="2605268"/>
            </a:xfrm>
            <a:custGeom>
              <a:avLst/>
              <a:gdLst/>
              <a:ahLst/>
              <a:cxnLst/>
              <a:rect r="r" b="b" t="t" l="l"/>
              <a:pathLst>
                <a:path h="2605268" w="7044348">
                  <a:moveTo>
                    <a:pt x="0" y="0"/>
                  </a:moveTo>
                  <a:lnTo>
                    <a:pt x="7044348" y="0"/>
                  </a:lnTo>
                  <a:lnTo>
                    <a:pt x="7044348" y="2605268"/>
                  </a:lnTo>
                  <a:lnTo>
                    <a:pt x="0" y="26052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740" r="-151824" b="-446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044348" cy="261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8"/>
                </a:lnSpc>
              </a:pPr>
              <a:r>
                <a:rPr lang="en-US" sz="2400" spc="72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   แสดงให้เห็นความสัมพันธ์เชิงเวลา (Time-Series) อย่างชัดเจนว่า งานวิจัยแทบทุกหมวดหมู่มีปริมาณการตีพิมพ์พุ่งสูงขึ้นอย่างก้าวกระโดด ในช่วงปี 2025 - 2026 โดยเฉพาะเทรนด์ของ Large Language Models และ Generative AI ที่ขยายตัวกว้างขึ้นอย่างเห็นได้ชัดในปลายน้ำ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2057495"/>
            <a:ext cx="7597845" cy="689895"/>
            <a:chOff x="0" y="0"/>
            <a:chExt cx="10130460" cy="9198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30461" cy="919860"/>
            </a:xfrm>
            <a:custGeom>
              <a:avLst/>
              <a:gdLst/>
              <a:ahLst/>
              <a:cxnLst/>
              <a:rect r="r" b="b" t="t" l="l"/>
              <a:pathLst>
                <a:path h="919860" w="10130461">
                  <a:moveTo>
                    <a:pt x="0" y="0"/>
                  </a:moveTo>
                  <a:lnTo>
                    <a:pt x="10130461" y="0"/>
                  </a:lnTo>
                  <a:lnTo>
                    <a:pt x="10130461" y="919860"/>
                  </a:lnTo>
                  <a:lnTo>
                    <a:pt x="0" y="919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967" r="-75109" b="-3095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130460" cy="91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กราฟ Treemap แสดงสัดส่ว</a:t>
              </a:r>
              <a:r>
                <a:rPr lang="en-US" sz="1650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นความนิยมของคำสำคัญทั้งหมดในชุดข้อมูล ขนาดและความเข้มของกล่องแปรผันตามความถี่ที่คำนั้นปรากฏในเปเปอร์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31091" y="3187220"/>
            <a:ext cx="3803138" cy="936368"/>
            <a:chOff x="0" y="0"/>
            <a:chExt cx="5525441" cy="13604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5441" cy="1360415"/>
            </a:xfrm>
            <a:custGeom>
              <a:avLst/>
              <a:gdLst/>
              <a:ahLst/>
              <a:cxnLst/>
              <a:rect r="r" b="b" t="t" l="l"/>
              <a:pathLst>
                <a:path h="1360415" w="5525441">
                  <a:moveTo>
                    <a:pt x="0" y="0"/>
                  </a:moveTo>
                  <a:lnTo>
                    <a:pt x="5525441" y="0"/>
                  </a:lnTo>
                  <a:lnTo>
                    <a:pt x="5525441" y="1360415"/>
                  </a:lnTo>
                  <a:lnTo>
                    <a:pt x="0" y="13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225" r="-221048" b="-17693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525441" cy="1360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 Treemap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322336"/>
            <a:chOff x="0" y="0"/>
            <a:chExt cx="5852160" cy="4297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429781"/>
            </a:xfrm>
            <a:custGeom>
              <a:avLst/>
              <a:gdLst/>
              <a:ahLst/>
              <a:cxnLst/>
              <a:rect r="r" b="b" t="t" l="l"/>
              <a:pathLst>
                <a:path h="4297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9781"/>
                  </a:lnTo>
                  <a:lnTo>
                    <a:pt x="0" y="429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278" r="0" b="-1993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429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06 • TIME SERIES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เทรนด์เร่งตัวอย่างชัดเจนในปี 2025–2026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15917" y="2630805"/>
            <a:ext cx="8455166" cy="5025390"/>
            <a:chOff x="0" y="0"/>
            <a:chExt cx="11273554" cy="6700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73554" cy="6700520"/>
            </a:xfrm>
            <a:custGeom>
              <a:avLst/>
              <a:gdLst/>
              <a:ahLst/>
              <a:cxnLst/>
              <a:rect r="r" b="b" t="t" l="l"/>
              <a:pathLst>
                <a:path h="6700520" w="11273554">
                  <a:moveTo>
                    <a:pt x="0" y="220345"/>
                  </a:moveTo>
                  <a:cubicBezTo>
                    <a:pt x="0" y="98679"/>
                    <a:pt x="135664" y="0"/>
                    <a:pt x="302931" y="0"/>
                  </a:cubicBezTo>
                  <a:lnTo>
                    <a:pt x="10970624" y="0"/>
                  </a:lnTo>
                  <a:cubicBezTo>
                    <a:pt x="11137891" y="0"/>
                    <a:pt x="11273554" y="98679"/>
                    <a:pt x="11273554" y="220345"/>
                  </a:cubicBezTo>
                  <a:lnTo>
                    <a:pt x="11273554" y="6480175"/>
                  </a:lnTo>
                  <a:cubicBezTo>
                    <a:pt x="11273554" y="6601841"/>
                    <a:pt x="11137891" y="6700520"/>
                    <a:pt x="10970624" y="6700520"/>
                  </a:cubicBezTo>
                  <a:lnTo>
                    <a:pt x="302931" y="6700520"/>
                  </a:lnTo>
                  <a:cubicBezTo>
                    <a:pt x="135664" y="6700520"/>
                    <a:pt x="0" y="6601841"/>
                    <a:pt x="0" y="64801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390" y="2853481"/>
            <a:ext cx="8221285" cy="4732020"/>
            <a:chOff x="0" y="0"/>
            <a:chExt cx="10961713" cy="6309360"/>
          </a:xfrm>
        </p:grpSpPr>
        <p:sp>
          <p:nvSpPr>
            <p:cNvPr name="Freeform 17" id="17" descr="/mnt/data/work/crops/themeriver.png"/>
            <p:cNvSpPr/>
            <p:nvPr/>
          </p:nvSpPr>
          <p:spPr>
            <a:xfrm flipH="false" flipV="false" rot="0">
              <a:off x="0" y="0"/>
              <a:ext cx="10961751" cy="6309360"/>
            </a:xfrm>
            <a:custGeom>
              <a:avLst/>
              <a:gdLst/>
              <a:ahLst/>
              <a:cxnLst/>
              <a:rect r="r" b="b" t="t" l="l"/>
              <a:pathLst>
                <a:path h="6309360" w="10961751">
                  <a:moveTo>
                    <a:pt x="0" y="0"/>
                  </a:moveTo>
                  <a:lnTo>
                    <a:pt x="10961751" y="0"/>
                  </a:lnTo>
                  <a:lnTo>
                    <a:pt x="10961751" y="6309360"/>
                  </a:lnTo>
                  <a:lnTo>
                    <a:pt x="0" y="630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82015" y="8124063"/>
            <a:ext cx="16505682" cy="979170"/>
            <a:chOff x="0" y="0"/>
            <a:chExt cx="22007576" cy="1305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07576" cy="1305560"/>
            </a:xfrm>
            <a:custGeom>
              <a:avLst/>
              <a:gdLst/>
              <a:ahLst/>
              <a:cxnLst/>
              <a:rect r="r" b="b" t="t" l="l"/>
              <a:pathLst>
                <a:path h="1305560" w="22007576">
                  <a:moveTo>
                    <a:pt x="0" y="223774"/>
                  </a:moveTo>
                  <a:cubicBezTo>
                    <a:pt x="0" y="100203"/>
                    <a:pt x="100203" y="0"/>
                    <a:pt x="223774" y="0"/>
                  </a:cubicBezTo>
                  <a:lnTo>
                    <a:pt x="21783802" y="0"/>
                  </a:lnTo>
                  <a:cubicBezTo>
                    <a:pt x="21907373" y="0"/>
                    <a:pt x="22007576" y="100203"/>
                    <a:pt x="22007576" y="223774"/>
                  </a:cubicBezTo>
                  <a:lnTo>
                    <a:pt x="22007576" y="1081786"/>
                  </a:lnTo>
                  <a:cubicBezTo>
                    <a:pt x="22007576" y="1205357"/>
                    <a:pt x="21907373" y="1305560"/>
                    <a:pt x="21783802" y="1305560"/>
                  </a:cubicBezTo>
                  <a:lnTo>
                    <a:pt x="223774" y="1305560"/>
                  </a:lnTo>
                  <a:cubicBezTo>
                    <a:pt x="100203" y="1305560"/>
                    <a:pt x="0" y="1205357"/>
                    <a:pt x="0" y="1081786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B7D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031431" y="8436825"/>
            <a:ext cx="8357756" cy="466344"/>
            <a:chOff x="0" y="0"/>
            <a:chExt cx="11143675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43676" cy="621792"/>
            </a:xfrm>
            <a:custGeom>
              <a:avLst/>
              <a:gdLst/>
              <a:ahLst/>
              <a:cxnLst/>
              <a:rect r="r" b="b" t="t" l="l"/>
              <a:pathLst>
                <a:path h="621792" w="11143676">
                  <a:moveTo>
                    <a:pt x="0" y="0"/>
                  </a:moveTo>
                  <a:lnTo>
                    <a:pt x="11143676" y="0"/>
                  </a:lnTo>
                  <a:lnTo>
                    <a:pt x="1114367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896" r="-59187" b="-5058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1143675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กราฟงานวิจัยพุ่งสูงขึ้นก้าวกระโดดในปี 2025-2026 โดยเฉพาะ LLM และ Generative AI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442180" y="9921240"/>
            <a:ext cx="1017118" cy="18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Garuda"/>
                <a:ea typeface="Garuda"/>
                <a:cs typeface="Garuda"/>
                <a:sym typeface="Garuda"/>
              </a:rPr>
              <a:t>7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15944" y="2630805"/>
            <a:ext cx="7375299" cy="5025390"/>
            <a:chOff x="0" y="0"/>
            <a:chExt cx="13655737" cy="93047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55737" cy="9304762"/>
            </a:xfrm>
            <a:custGeom>
              <a:avLst/>
              <a:gdLst/>
              <a:ahLst/>
              <a:cxnLst/>
              <a:rect r="r" b="b" t="t" l="l"/>
              <a:pathLst>
                <a:path h="9304762" w="13655737">
                  <a:moveTo>
                    <a:pt x="0" y="240101"/>
                  </a:moveTo>
                  <a:cubicBezTo>
                    <a:pt x="0" y="107512"/>
                    <a:pt x="89591" y="0"/>
                    <a:pt x="200079" y="0"/>
                  </a:cubicBezTo>
                  <a:lnTo>
                    <a:pt x="13455658" y="0"/>
                  </a:lnTo>
                  <a:cubicBezTo>
                    <a:pt x="13566146" y="0"/>
                    <a:pt x="13655737" y="107512"/>
                    <a:pt x="13655737" y="240101"/>
                  </a:cubicBezTo>
                  <a:lnTo>
                    <a:pt x="13655737" y="9064661"/>
                  </a:lnTo>
                  <a:cubicBezTo>
                    <a:pt x="13655737" y="9197251"/>
                    <a:pt x="13566146" y="9304762"/>
                    <a:pt x="13455658" y="9304762"/>
                  </a:cubicBezTo>
                  <a:lnTo>
                    <a:pt x="200079" y="9304762"/>
                  </a:lnTo>
                  <a:cubicBezTo>
                    <a:pt x="89591" y="9304762"/>
                    <a:pt x="0" y="9197251"/>
                    <a:pt x="0" y="90646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116298" y="3299065"/>
            <a:ext cx="6774591" cy="3688870"/>
            <a:chOff x="0" y="0"/>
            <a:chExt cx="5990329" cy="32618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90329" cy="3261827"/>
            </a:xfrm>
            <a:custGeom>
              <a:avLst/>
              <a:gdLst/>
              <a:ahLst/>
              <a:cxnLst/>
              <a:rect r="r" b="b" t="t" l="l"/>
              <a:pathLst>
                <a:path h="3261827" w="5990329">
                  <a:moveTo>
                    <a:pt x="0" y="0"/>
                  </a:moveTo>
                  <a:lnTo>
                    <a:pt x="5990329" y="0"/>
                  </a:lnTo>
                  <a:lnTo>
                    <a:pt x="5990329" y="3261827"/>
                  </a:lnTo>
                  <a:lnTo>
                    <a:pt x="0" y="3261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88" r="16044" b="5790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990329" cy="3299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4"/>
                </a:lnSpc>
              </a:pPr>
              <a:r>
                <a:rPr lang="en-US" sz="24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   </a:t>
              </a:r>
              <a:r>
                <a:rPr lang="en-US" sz="24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</a:t>
              </a:r>
              <a:r>
                <a:rPr lang="en-US" sz="24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กราฟกระแสน้ำแสดงวิวัฒนาการของคำสำคัญยอดฮิต 10 อันดับแรกตามช่วงเวลา (ปีที่ตีพิมพ์) ความหนาของแถบสีแสดงถึงปริมาณงานวิจัยในแต่ละปี แสดงความสัมพันธ์เชิงเวลา (Time-Series) อย่างชัดเจนว่า งานวิจัยมีปริมาณการตีพิมพ์พุ่งสูงขึ้นอย่างก้าวกระโดด ในช่วงปี 2025 - 2026 โดยเฉพาะเทรนด์ของ Large Language Models และ Generative AI ที่ขยายตัวกว้างขึ้นอย่างเห็นได้ชัดในข้อมูลช่วงหลัง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91820" y="2630805"/>
            <a:ext cx="4275074" cy="862981"/>
            <a:chOff x="0" y="0"/>
            <a:chExt cx="5700099" cy="11506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00099" cy="1150641"/>
            </a:xfrm>
            <a:custGeom>
              <a:avLst/>
              <a:gdLst/>
              <a:ahLst/>
              <a:cxnLst/>
              <a:rect r="r" b="b" t="t" l="l"/>
              <a:pathLst>
                <a:path h="1150641" w="5700099">
                  <a:moveTo>
                    <a:pt x="0" y="0"/>
                  </a:moveTo>
                  <a:lnTo>
                    <a:pt x="5700099" y="0"/>
                  </a:lnTo>
                  <a:lnTo>
                    <a:pt x="5700099" y="1150641"/>
                  </a:lnTo>
                  <a:lnTo>
                    <a:pt x="0" y="1150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24" r="11769" b="-90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700099" cy="1150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</a:t>
              </a:r>
              <a:r>
                <a:rPr lang="en-US" sz="3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eyword Theme River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07 • EMERGING TRENDS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</a:t>
              </a: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Trend Heatmap และ Emerging Keyword Quadrant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754481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Heatmap ยืนยันความหนาแน่นของ Deep Learning / Machine Learning ขณะที่ Quadrant ช่วยมองดาวรุ่งตาม Growth rate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774823"/>
            <a:ext cx="8317230" cy="5436870"/>
            <a:chOff x="0" y="0"/>
            <a:chExt cx="11089640" cy="7249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89640" cy="7249161"/>
            </a:xfrm>
            <a:custGeom>
              <a:avLst/>
              <a:gdLst/>
              <a:ahLst/>
              <a:cxnLst/>
              <a:rect r="r" b="b" t="t" l="l"/>
              <a:pathLst>
                <a:path h="7249161" w="1108964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869422" y="0"/>
                  </a:lnTo>
                  <a:cubicBezTo>
                    <a:pt x="10991088" y="0"/>
                    <a:pt x="11089640" y="98552"/>
                    <a:pt x="11089640" y="220218"/>
                  </a:cubicBezTo>
                  <a:lnTo>
                    <a:pt x="11089640" y="7028942"/>
                  </a:lnTo>
                  <a:cubicBezTo>
                    <a:pt x="11089640" y="7150608"/>
                    <a:pt x="10991088" y="7249161"/>
                    <a:pt x="10869422" y="7249161"/>
                  </a:cubicBezTo>
                  <a:lnTo>
                    <a:pt x="220218" y="7249161"/>
                  </a:lnTo>
                  <a:cubicBezTo>
                    <a:pt x="98552" y="7249160"/>
                    <a:pt x="0" y="7150608"/>
                    <a:pt x="0" y="70289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1568" y="2921508"/>
            <a:ext cx="7858125" cy="5143500"/>
            <a:chOff x="0" y="0"/>
            <a:chExt cx="10477500" cy="6858000"/>
          </a:xfrm>
        </p:grpSpPr>
        <p:sp>
          <p:nvSpPr>
            <p:cNvPr name="Freeform 20" id="20" descr="/mnt/data/work/crops/heatmap.png"/>
            <p:cNvSpPr/>
            <p:nvPr/>
          </p:nvSpPr>
          <p:spPr>
            <a:xfrm flipH="false" flipV="false" rot="0">
              <a:off x="0" y="0"/>
              <a:ext cx="104775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495663" y="2774823"/>
            <a:ext cx="7892034" cy="5436870"/>
            <a:chOff x="0" y="0"/>
            <a:chExt cx="10522712" cy="7249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22712" cy="7249161"/>
            </a:xfrm>
            <a:custGeom>
              <a:avLst/>
              <a:gdLst/>
              <a:ahLst/>
              <a:cxnLst/>
              <a:rect r="r" b="b" t="t" l="l"/>
              <a:pathLst>
                <a:path h="7249161" w="10522712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302494" y="0"/>
                  </a:lnTo>
                  <a:cubicBezTo>
                    <a:pt x="10424160" y="0"/>
                    <a:pt x="10522712" y="98552"/>
                    <a:pt x="10522712" y="220218"/>
                  </a:cubicBezTo>
                  <a:lnTo>
                    <a:pt x="10522712" y="7028942"/>
                  </a:lnTo>
                  <a:cubicBezTo>
                    <a:pt x="10522712" y="7150608"/>
                    <a:pt x="10424160" y="7249161"/>
                    <a:pt x="10302494" y="7249161"/>
                  </a:cubicBezTo>
                  <a:lnTo>
                    <a:pt x="220218" y="7249161"/>
                  </a:lnTo>
                  <a:cubicBezTo>
                    <a:pt x="98552" y="7249160"/>
                    <a:pt x="0" y="7150608"/>
                    <a:pt x="0" y="70289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42348" y="3041361"/>
            <a:ext cx="7598664" cy="4903794"/>
            <a:chOff x="0" y="0"/>
            <a:chExt cx="10131552" cy="6538392"/>
          </a:xfrm>
        </p:grpSpPr>
        <p:sp>
          <p:nvSpPr>
            <p:cNvPr name="Freeform 24" id="24" descr="/mnt/data/work/crops/quadrant.png"/>
            <p:cNvSpPr/>
            <p:nvPr/>
          </p:nvSpPr>
          <p:spPr>
            <a:xfrm flipH="false" flipV="false" rot="0">
              <a:off x="0" y="0"/>
              <a:ext cx="10131552" cy="6538341"/>
            </a:xfrm>
            <a:custGeom>
              <a:avLst/>
              <a:gdLst/>
              <a:ahLst/>
              <a:cxnLst/>
              <a:rect r="r" b="b" t="t" l="l"/>
              <a:pathLst>
                <a:path h="6538341" w="10131552">
                  <a:moveTo>
                    <a:pt x="0" y="0"/>
                  </a:moveTo>
                  <a:lnTo>
                    <a:pt x="10131552" y="0"/>
                  </a:lnTo>
                  <a:lnTo>
                    <a:pt x="10131552" y="6538341"/>
                  </a:lnTo>
                  <a:lnTo>
                    <a:pt x="0" y="6538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52347" y="8453247"/>
            <a:ext cx="2529078" cy="512826"/>
            <a:chOff x="0" y="0"/>
            <a:chExt cx="3372104" cy="6837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72104" cy="683768"/>
            </a:xfrm>
            <a:custGeom>
              <a:avLst/>
              <a:gdLst/>
              <a:ahLst/>
              <a:cxnLst/>
              <a:rect r="r" b="b" t="t" l="l"/>
              <a:pathLst>
                <a:path h="683768" w="3372104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220212" y="0"/>
                  </a:lnTo>
                  <a:cubicBezTo>
                    <a:pt x="3304159" y="0"/>
                    <a:pt x="3372104" y="68072"/>
                    <a:pt x="3372104" y="151892"/>
                  </a:cubicBezTo>
                  <a:lnTo>
                    <a:pt x="3372104" y="531876"/>
                  </a:lnTo>
                  <a:cubicBezTo>
                    <a:pt x="3372104" y="615823"/>
                    <a:pt x="3304032" y="683768"/>
                    <a:pt x="3220212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EAF3F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8490204"/>
            <a:ext cx="2290572" cy="405318"/>
            <a:chOff x="0" y="0"/>
            <a:chExt cx="3054096" cy="5404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54096" cy="540424"/>
            </a:xfrm>
            <a:custGeom>
              <a:avLst/>
              <a:gdLst/>
              <a:ahLst/>
              <a:cxnLst/>
              <a:rect r="r" b="b" t="t" l="l"/>
              <a:pathLst>
                <a:path h="540424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739" r="0" b="-574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05409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HIGH DENSITY •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46220" y="8503920"/>
            <a:ext cx="3977640" cy="405318"/>
            <a:chOff x="0" y="0"/>
            <a:chExt cx="5303520" cy="5404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0" cy="540424"/>
            </a:xfrm>
            <a:custGeom>
              <a:avLst/>
              <a:gdLst/>
              <a:ahLst/>
              <a:cxnLst/>
              <a:rect r="r" b="b" t="t" l="l"/>
              <a:pathLst>
                <a:path h="54042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10" r="0" b="-13182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0352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Deep Learning + Machine Learning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65995" y="8453247"/>
            <a:ext cx="1527810" cy="512826"/>
            <a:chOff x="0" y="0"/>
            <a:chExt cx="2037080" cy="6837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37080" cy="683768"/>
            </a:xfrm>
            <a:custGeom>
              <a:avLst/>
              <a:gdLst/>
              <a:ahLst/>
              <a:cxnLst/>
              <a:rect r="r" b="b" t="t" l="l"/>
              <a:pathLst>
                <a:path h="683768" w="203708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1885188" y="0"/>
                  </a:lnTo>
                  <a:cubicBezTo>
                    <a:pt x="1969135" y="0"/>
                    <a:pt x="2037080" y="68072"/>
                    <a:pt x="2037080" y="151892"/>
                  </a:cubicBezTo>
                  <a:lnTo>
                    <a:pt x="2037080" y="531876"/>
                  </a:lnTo>
                  <a:cubicBezTo>
                    <a:pt x="2037080" y="615823"/>
                    <a:pt x="1969008" y="683768"/>
                    <a:pt x="188518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8F7F4"/>
            </a:solidFill>
            <a:ln w="19050" cap="sq">
              <a:solidFill>
                <a:srgbClr val="E8F7F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85248" y="8490204"/>
            <a:ext cx="1289304" cy="405318"/>
            <a:chOff x="0" y="0"/>
            <a:chExt cx="1719072" cy="5404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19072" cy="540424"/>
            </a:xfrm>
            <a:custGeom>
              <a:avLst/>
              <a:gdLst/>
              <a:ahLst/>
              <a:cxnLst/>
              <a:rect r="r" b="b" t="t" l="l"/>
              <a:pathLst>
                <a:path h="540424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5" r="0" b="-9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71907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AA6A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EMERGING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31168" y="8503920"/>
            <a:ext cx="5513832" cy="405318"/>
            <a:chOff x="0" y="0"/>
            <a:chExt cx="7351776" cy="5404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51776" cy="540424"/>
            </a:xfrm>
            <a:custGeom>
              <a:avLst/>
              <a:gdLst/>
              <a:ahLst/>
              <a:cxnLst/>
              <a:rect r="r" b="b" t="t" l="l"/>
              <a:pathLst>
                <a:path h="540424" w="7351776">
                  <a:moveTo>
                    <a:pt x="0" y="0"/>
                  </a:moveTo>
                  <a:lnTo>
                    <a:pt x="7351776" y="0"/>
                  </a:lnTo>
                  <a:lnTo>
                    <a:pt x="735177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460" r="0" b="-20567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35177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Federated Learning · Generative AI · Edge Computing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52347" y="9013698"/>
            <a:ext cx="6675013" cy="795425"/>
            <a:chOff x="0" y="0"/>
            <a:chExt cx="8900018" cy="10605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00018" cy="1060567"/>
            </a:xfrm>
            <a:custGeom>
              <a:avLst/>
              <a:gdLst/>
              <a:ahLst/>
              <a:cxnLst/>
              <a:rect r="r" b="b" t="t" l="l"/>
              <a:pathLst>
                <a:path h="1060567" w="8900018">
                  <a:moveTo>
                    <a:pt x="0" y="0"/>
                  </a:moveTo>
                  <a:lnTo>
                    <a:pt x="8900018" y="0"/>
                  </a:lnTo>
                  <a:lnTo>
                    <a:pt x="8900018" y="1060567"/>
                  </a:lnTo>
                  <a:lnTo>
                    <a:pt x="0" y="1060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45" r="40410" b="-181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900018" cy="1051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แผนภาพความร้อนที่แสดงระดับความหนาแน่นของ</a:t>
              </a:r>
              <a:r>
                <a:rPr lang="en-US" sz="1899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 Keyword ในแต่ละปี สีน้ำเงินเข้มหมายถึงมีเปเปอร์ที่ใช้คำนั้นจำนวนมาก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85248" y="9032748"/>
            <a:ext cx="7456932" cy="795425"/>
            <a:chOff x="0" y="0"/>
            <a:chExt cx="9942576" cy="10605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42576" cy="1060567"/>
            </a:xfrm>
            <a:custGeom>
              <a:avLst/>
              <a:gdLst/>
              <a:ahLst/>
              <a:cxnLst/>
              <a:rect r="r" b="b" t="t" l="l"/>
              <a:pathLst>
                <a:path h="1060567" w="9942576">
                  <a:moveTo>
                    <a:pt x="0" y="0"/>
                  </a:moveTo>
                  <a:lnTo>
                    <a:pt x="9942576" y="0"/>
                  </a:lnTo>
                  <a:lnTo>
                    <a:pt x="9942576" y="1060567"/>
                  </a:lnTo>
                  <a:lnTo>
                    <a:pt x="0" y="1060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45" r="46658" b="-181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9942576" cy="1051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B2E59"/>
                  </a:solidFill>
                  <a:latin typeface="Garuda"/>
                  <a:ea typeface="Garuda"/>
                  <a:cs typeface="Garuda"/>
                  <a:sym typeface="Garuda"/>
                </a:rPr>
                <a:t>กราฟ Scatter Plot แบบแบ่งจตุภาค (Quadrant) แกน X แสดงอัตราการเติบโต (Growth rate) และแกน Y แสดงความถี่ปัจจุบัน (Frequency)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08 • RELATIONSHIP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04113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Keyword Co-occurrence</a:t>
              </a: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Network 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91547" y="2304974"/>
            <a:ext cx="16482063" cy="22726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82015" y="2706243"/>
            <a:ext cx="10168890" cy="6465570"/>
            <a:chOff x="0" y="0"/>
            <a:chExt cx="13558520" cy="8620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58520" cy="8620760"/>
            </a:xfrm>
            <a:custGeom>
              <a:avLst/>
              <a:gdLst/>
              <a:ahLst/>
              <a:cxnLst/>
              <a:rect r="r" b="b" t="t" l="l"/>
              <a:pathLst>
                <a:path h="8620760" w="135585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3338429" y="0"/>
                  </a:lnTo>
                  <a:cubicBezTo>
                    <a:pt x="13459968" y="0"/>
                    <a:pt x="13558520" y="98552"/>
                    <a:pt x="13558520" y="220091"/>
                  </a:cubicBezTo>
                  <a:lnTo>
                    <a:pt x="13558520" y="8400669"/>
                  </a:lnTo>
                  <a:cubicBezTo>
                    <a:pt x="13558520" y="8522208"/>
                    <a:pt x="13459968" y="8620760"/>
                    <a:pt x="13338429" y="8620760"/>
                  </a:cubicBezTo>
                  <a:lnTo>
                    <a:pt x="220091" y="8620760"/>
                  </a:lnTo>
                  <a:cubicBezTo>
                    <a:pt x="98552" y="8620760"/>
                    <a:pt x="0" y="8522208"/>
                    <a:pt x="0" y="84006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05" y="2852928"/>
            <a:ext cx="8652100" cy="6172200"/>
            <a:chOff x="0" y="0"/>
            <a:chExt cx="11536134" cy="8229600"/>
          </a:xfrm>
        </p:grpSpPr>
        <p:sp>
          <p:nvSpPr>
            <p:cNvPr name="Freeform 17" id="17" descr="/mnt/data/work/crops/network.png"/>
            <p:cNvSpPr/>
            <p:nvPr/>
          </p:nvSpPr>
          <p:spPr>
            <a:xfrm flipH="false" flipV="false" rot="0">
              <a:off x="0" y="0"/>
              <a:ext cx="11536172" cy="8229600"/>
            </a:xfrm>
            <a:custGeom>
              <a:avLst/>
              <a:gdLst/>
              <a:ahLst/>
              <a:cxnLst/>
              <a:rect r="r" b="b" t="t" l="l"/>
              <a:pathLst>
                <a:path h="8229600" w="11536172">
                  <a:moveTo>
                    <a:pt x="0" y="0"/>
                  </a:moveTo>
                  <a:lnTo>
                    <a:pt x="11536172" y="0"/>
                  </a:lnTo>
                  <a:lnTo>
                    <a:pt x="11536172" y="8229600"/>
                  </a:lnTo>
                  <a:lnTo>
                    <a:pt x="0" y="822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43335" y="2706243"/>
            <a:ext cx="5944362" cy="6465570"/>
            <a:chOff x="0" y="0"/>
            <a:chExt cx="7925816" cy="8620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5816" cy="8620761"/>
            </a:xfrm>
            <a:custGeom>
              <a:avLst/>
              <a:gdLst/>
              <a:ahLst/>
              <a:cxnLst/>
              <a:rect r="r" b="b" t="t" l="l"/>
              <a:pathLst>
                <a:path h="8620761" w="7925816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705598" y="0"/>
                  </a:lnTo>
                  <a:cubicBezTo>
                    <a:pt x="7827137" y="0"/>
                    <a:pt x="7925816" y="98552"/>
                    <a:pt x="7925816" y="220218"/>
                  </a:cubicBezTo>
                  <a:lnTo>
                    <a:pt x="7925816" y="8400542"/>
                  </a:lnTo>
                  <a:cubicBezTo>
                    <a:pt x="7925816" y="8522081"/>
                    <a:pt x="7827264" y="8620761"/>
                    <a:pt x="7705598" y="8620761"/>
                  </a:cubicBezTo>
                  <a:lnTo>
                    <a:pt x="220218" y="8620761"/>
                  </a:lnTo>
                  <a:cubicBezTo>
                    <a:pt x="98552" y="8620760"/>
                    <a:pt x="0" y="8522208"/>
                    <a:pt x="0" y="8400542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05488" y="3127248"/>
            <a:ext cx="4869180" cy="681533"/>
            <a:chOff x="0" y="0"/>
            <a:chExt cx="6492240" cy="9087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2240" cy="908710"/>
            </a:xfrm>
            <a:custGeom>
              <a:avLst/>
              <a:gdLst/>
              <a:ahLst/>
              <a:cxnLst/>
              <a:rect r="r" b="b" t="t" l="l"/>
              <a:pathLst>
                <a:path h="90871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08710"/>
                  </a:lnTo>
                  <a:lnTo>
                    <a:pt x="0" y="908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59" r="0" b="-794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492240" cy="9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3 signals from the network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95963" y="4269867"/>
            <a:ext cx="1692402" cy="512826"/>
            <a:chOff x="0" y="0"/>
            <a:chExt cx="2256536" cy="6837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56536" cy="683768"/>
            </a:xfrm>
            <a:custGeom>
              <a:avLst/>
              <a:gdLst/>
              <a:ahLst/>
              <a:cxnLst/>
              <a:rect r="r" b="b" t="t" l="l"/>
              <a:pathLst>
                <a:path h="683768" w="2256536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2104644" y="0"/>
                  </a:lnTo>
                  <a:cubicBezTo>
                    <a:pt x="2188591" y="0"/>
                    <a:pt x="2256536" y="68072"/>
                    <a:pt x="2256536" y="151892"/>
                  </a:cubicBezTo>
                  <a:lnTo>
                    <a:pt x="2256536" y="531876"/>
                  </a:lnTo>
                  <a:cubicBezTo>
                    <a:pt x="2256536" y="615823"/>
                    <a:pt x="2188464" y="683768"/>
                    <a:pt x="2104644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1C4B79"/>
            </a:solidFill>
            <a:ln w="19050" cap="sq">
              <a:solidFill>
                <a:srgbClr val="1C4B7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5216" y="4306824"/>
            <a:ext cx="1453896" cy="405318"/>
            <a:chOff x="0" y="0"/>
            <a:chExt cx="1938528" cy="540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38528" cy="540424"/>
            </a:xfrm>
            <a:custGeom>
              <a:avLst/>
              <a:gdLst/>
              <a:ahLst/>
              <a:cxnLst/>
              <a:rect r="r" b="b" t="t" l="l"/>
              <a:pathLst>
                <a:path h="540424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7" r="0" b="-1726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938528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8ED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NODE SIZE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3160" y="4320540"/>
            <a:ext cx="2811780" cy="617220"/>
            <a:chOff x="0" y="0"/>
            <a:chExt cx="374904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49040" cy="822960"/>
            </a:xfrm>
            <a:custGeom>
              <a:avLst/>
              <a:gdLst/>
              <a:ahLst/>
              <a:cxnLst/>
              <a:rect r="r" b="b" t="t" l="l"/>
              <a:pathLst>
                <a:path h="8229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7490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9EBF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คำที่พบ/ถูกเชื่อมโยงบ่อย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95963" y="5476875"/>
            <a:ext cx="1692402" cy="512826"/>
            <a:chOff x="0" y="0"/>
            <a:chExt cx="2256536" cy="6837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56536" cy="683768"/>
            </a:xfrm>
            <a:custGeom>
              <a:avLst/>
              <a:gdLst/>
              <a:ahLst/>
              <a:cxnLst/>
              <a:rect r="r" b="b" t="t" l="l"/>
              <a:pathLst>
                <a:path h="683768" w="2256536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2104644" y="0"/>
                  </a:lnTo>
                  <a:cubicBezTo>
                    <a:pt x="2188591" y="0"/>
                    <a:pt x="2256536" y="68072"/>
                    <a:pt x="2256536" y="151892"/>
                  </a:cubicBezTo>
                  <a:lnTo>
                    <a:pt x="2256536" y="531876"/>
                  </a:lnTo>
                  <a:cubicBezTo>
                    <a:pt x="2256536" y="615823"/>
                    <a:pt x="2188464" y="683768"/>
                    <a:pt x="2104644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1C4B79"/>
            </a:solidFill>
            <a:ln w="19050" cap="sq">
              <a:solidFill>
                <a:srgbClr val="1C4B7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15216" y="5513832"/>
            <a:ext cx="1453896" cy="405318"/>
            <a:chOff x="0" y="0"/>
            <a:chExt cx="1938528" cy="5404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38528" cy="540424"/>
            </a:xfrm>
            <a:custGeom>
              <a:avLst/>
              <a:gdLst/>
              <a:ahLst/>
              <a:cxnLst/>
              <a:rect r="r" b="b" t="t" l="l"/>
              <a:pathLst>
                <a:path h="540424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7" r="0" b="-1726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938528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8ED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EDGE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53160" y="5527548"/>
            <a:ext cx="2811780" cy="617220"/>
            <a:chOff x="0" y="0"/>
            <a:chExt cx="374904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49040" cy="822960"/>
            </a:xfrm>
            <a:custGeom>
              <a:avLst/>
              <a:gdLst/>
              <a:ahLst/>
              <a:cxnLst/>
              <a:rect r="r" b="b" t="t" l="l"/>
              <a:pathLst>
                <a:path h="8229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7490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9EBF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งานวิจัยที่ใช้ keyword ร่วมกัน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95963" y="6683883"/>
            <a:ext cx="1692402" cy="512826"/>
            <a:chOff x="0" y="0"/>
            <a:chExt cx="2256536" cy="6837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56536" cy="683768"/>
            </a:xfrm>
            <a:custGeom>
              <a:avLst/>
              <a:gdLst/>
              <a:ahLst/>
              <a:cxnLst/>
              <a:rect r="r" b="b" t="t" l="l"/>
              <a:pathLst>
                <a:path h="683768" w="2256536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2104644" y="0"/>
                  </a:lnTo>
                  <a:cubicBezTo>
                    <a:pt x="2188591" y="0"/>
                    <a:pt x="2256536" y="68072"/>
                    <a:pt x="2256536" y="151892"/>
                  </a:cubicBezTo>
                  <a:lnTo>
                    <a:pt x="2256536" y="531876"/>
                  </a:lnTo>
                  <a:cubicBezTo>
                    <a:pt x="2256536" y="615823"/>
                    <a:pt x="2188464" y="683768"/>
                    <a:pt x="2104644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1C4B79"/>
            </a:solidFill>
            <a:ln w="19050" cap="sq">
              <a:solidFill>
                <a:srgbClr val="1C4B7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15216" y="6720840"/>
            <a:ext cx="1453896" cy="405318"/>
            <a:chOff x="0" y="0"/>
            <a:chExt cx="1938528" cy="5404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38528" cy="540424"/>
            </a:xfrm>
            <a:custGeom>
              <a:avLst/>
              <a:gdLst/>
              <a:ahLst/>
              <a:cxnLst/>
              <a:rect r="r" b="b" t="t" l="l"/>
              <a:pathLst>
                <a:path h="540424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7" r="0" b="-1726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938528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8ED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WARM TONE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853160" y="6734556"/>
            <a:ext cx="2811780" cy="617220"/>
            <a:chOff x="0" y="0"/>
            <a:chExt cx="374904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49040" cy="822960"/>
            </a:xfrm>
            <a:custGeom>
              <a:avLst/>
              <a:gdLst/>
              <a:ahLst/>
              <a:cxnLst/>
              <a:rect r="r" b="b" t="t" l="l"/>
              <a:pathLst>
                <a:path h="8229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7490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9EBF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งานวิจัยช่วงล่าสุด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905488" y="7366087"/>
            <a:ext cx="1577340" cy="405318"/>
            <a:chOff x="0" y="0"/>
            <a:chExt cx="2103120" cy="5404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03120" cy="540424"/>
            </a:xfrm>
            <a:custGeom>
              <a:avLst/>
              <a:gdLst/>
              <a:ahLst/>
              <a:cxnLst/>
              <a:rect r="r" b="b" t="t" l="l"/>
              <a:pathLst>
                <a:path h="54042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20" r="0" b="-164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10312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ED1F0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Interpretation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05488" y="7738770"/>
            <a:ext cx="5353812" cy="1433043"/>
            <a:chOff x="0" y="0"/>
            <a:chExt cx="7138416" cy="19107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8415" cy="1910724"/>
            </a:xfrm>
            <a:custGeom>
              <a:avLst/>
              <a:gdLst/>
              <a:ahLst/>
              <a:cxnLst/>
              <a:rect r="r" b="b" t="t" l="l"/>
              <a:pathLst>
                <a:path h="1910724" w="7138415">
                  <a:moveTo>
                    <a:pt x="0" y="0"/>
                  </a:moveTo>
                  <a:lnTo>
                    <a:pt x="7138415" y="0"/>
                  </a:lnTo>
                  <a:lnTo>
                    <a:pt x="7138415" y="1910724"/>
                  </a:lnTo>
                  <a:lnTo>
                    <a:pt x="0" y="1910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971" r="18018" b="2261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138416" cy="19107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แสดงให้เห็นโครงสร้างการบูรณาการ</a:t>
              </a:r>
              <a:r>
                <a:rPr lang="en-US" sz="16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เทคโนโลยี โหนดขนาดใหญ่ที่เป็นสีแดงเข้มตรงกลางบ่งบอกว่างานวิจัยยุคใหม่ๆ มีการนำเทคโนโลยีหลายแขนงมาผสมผสานกันเป็นเครือข่ายแน่นหนา มากกว่าการทำวิจัยแบบแยกส่วนเหมือนในอดีต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91547" y="1640472"/>
            <a:ext cx="11440496" cy="745607"/>
            <a:chOff x="0" y="0"/>
            <a:chExt cx="15253995" cy="9941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53994" cy="994143"/>
            </a:xfrm>
            <a:custGeom>
              <a:avLst/>
              <a:gdLst/>
              <a:ahLst/>
              <a:cxnLst/>
              <a:rect r="r" b="b" t="t" l="l"/>
              <a:pathLst>
                <a:path h="994143" w="15253994">
                  <a:moveTo>
                    <a:pt x="0" y="0"/>
                  </a:moveTo>
                  <a:lnTo>
                    <a:pt x="15253994" y="0"/>
                  </a:lnTo>
                  <a:lnTo>
                    <a:pt x="15253994" y="994143"/>
                  </a:lnTo>
                  <a:lnTo>
                    <a:pt x="0" y="9941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688" r="-41470" b="-35423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5253995" cy="9941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เครือข</a:t>
              </a: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่ายใยแมงมุมแสดงความสัมพันธ์ของคำสำคัญ โหนดขนาดใหญ่คือคำที่เจอบ่อย โทนสีแดง/โทนอุ่น หมายถึงเปเปอร์ในปีล่าสุด เส้นเชื่อม (Edge) คือการถูกนำมาทำวิจัยร่วมกัน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19456"/>
            <a:chOff x="0" y="0"/>
            <a:chExt cx="58521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292608"/>
            </a:xfrm>
            <a:custGeom>
              <a:avLst/>
              <a:gdLst/>
              <a:ahLst/>
              <a:cxnLst/>
              <a:rect r="r" b="b" t="t" l="l"/>
              <a:pathLst>
                <a:path h="2926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09 • TEXT EMBEDDING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884227"/>
            <a:chOff x="0" y="0"/>
            <a:chExt cx="21945600" cy="11789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178970"/>
            </a:xfrm>
            <a:custGeom>
              <a:avLst/>
              <a:gdLst/>
              <a:ahLst/>
              <a:cxnLst/>
              <a:rect r="r" b="b" t="t" l="l"/>
              <a:pathLst>
                <a:path h="117897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8970"/>
                  </a:lnTo>
                  <a:lnTo>
                    <a:pt x="0" y="1178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367" r="0" b="-303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0" cy="117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SPECTER2 (allenai/specter2_base) ทำงานร่วมกับ Adapter ผ่านไลบรารี Transformers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1673352"/>
            <a:ext cx="16184880" cy="478874"/>
            <a:chOff x="0" y="0"/>
            <a:chExt cx="21579840" cy="638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9839" cy="638498"/>
            </a:xfrm>
            <a:custGeom>
              <a:avLst/>
              <a:gdLst/>
              <a:ahLst/>
              <a:cxnLst/>
              <a:rect r="r" b="b" t="t" l="l"/>
              <a:pathLst>
                <a:path h="63849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59" r="0" b="-6072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57984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ใช้ embedding model ที่ออกแบบมาสำหรับบทความวิชาการ เพื่อแปลงข้อความเป็นตัวเลขที่วัดความคล้ายคลึงได้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2015" y="2898267"/>
            <a:ext cx="2967990" cy="2007870"/>
            <a:chOff x="0" y="0"/>
            <a:chExt cx="3957320" cy="2677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57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395732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3735705" y="0"/>
                  </a:lnTo>
                  <a:cubicBezTo>
                    <a:pt x="3858133" y="0"/>
                    <a:pt x="3957320" y="99187"/>
                    <a:pt x="3957320" y="221615"/>
                  </a:cubicBezTo>
                  <a:lnTo>
                    <a:pt x="3957320" y="2455545"/>
                  </a:lnTo>
                  <a:cubicBezTo>
                    <a:pt x="3957320" y="2577973"/>
                    <a:pt x="3858133" y="2677160"/>
                    <a:pt x="3735705" y="2677160"/>
                  </a:cubicBezTo>
                  <a:lnTo>
                    <a:pt x="221615" y="2677160"/>
                  </a:lnTo>
                  <a:cubicBezTo>
                    <a:pt x="99187" y="2677160"/>
                    <a:pt x="0" y="2577973"/>
                    <a:pt x="0" y="24555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0996" y="3223260"/>
            <a:ext cx="2496312" cy="525094"/>
            <a:chOff x="0" y="0"/>
            <a:chExt cx="3328416" cy="700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28416" cy="700126"/>
            </a:xfrm>
            <a:custGeom>
              <a:avLst/>
              <a:gdLst/>
              <a:ahLst/>
              <a:cxnLst/>
              <a:rect r="r" b="b" t="t" l="l"/>
              <a:pathLst>
                <a:path h="70012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00126"/>
                  </a:lnTo>
                  <a:lnTo>
                    <a:pt x="0" y="7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8" r="0" b="-344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328416" cy="700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TEXT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0996" y="3813048"/>
            <a:ext cx="2496312" cy="576072"/>
            <a:chOff x="0" y="0"/>
            <a:chExt cx="3328416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28416" cy="768096"/>
            </a:xfrm>
            <a:custGeom>
              <a:avLst/>
              <a:gdLst/>
              <a:ahLst/>
              <a:cxnLst/>
              <a:rect r="r" b="b" t="t" l="l"/>
              <a:pathLst>
                <a:path h="76809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3284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embedding_text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67912" y="3538728"/>
            <a:ext cx="384048" cy="727819"/>
            <a:chOff x="0" y="0"/>
            <a:chExt cx="512064" cy="9704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8" b="434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69867" y="2898267"/>
            <a:ext cx="2967990" cy="2007870"/>
            <a:chOff x="0" y="0"/>
            <a:chExt cx="3957320" cy="2677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57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395732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3735705" y="0"/>
                  </a:lnTo>
                  <a:cubicBezTo>
                    <a:pt x="3858133" y="0"/>
                    <a:pt x="3957320" y="99187"/>
                    <a:pt x="3957320" y="221615"/>
                  </a:cubicBezTo>
                  <a:lnTo>
                    <a:pt x="3957320" y="2455545"/>
                  </a:lnTo>
                  <a:cubicBezTo>
                    <a:pt x="3957320" y="2577973"/>
                    <a:pt x="3858133" y="2677160"/>
                    <a:pt x="3735705" y="2677160"/>
                  </a:cubicBezTo>
                  <a:lnTo>
                    <a:pt x="221615" y="2677160"/>
                  </a:lnTo>
                  <a:cubicBezTo>
                    <a:pt x="99187" y="2677160"/>
                    <a:pt x="0" y="2577973"/>
                    <a:pt x="0" y="24555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498848" y="3223260"/>
            <a:ext cx="2496312" cy="525094"/>
            <a:chOff x="0" y="0"/>
            <a:chExt cx="3328416" cy="7001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28416" cy="700126"/>
            </a:xfrm>
            <a:custGeom>
              <a:avLst/>
              <a:gdLst/>
              <a:ahLst/>
              <a:cxnLst/>
              <a:rect r="r" b="b" t="t" l="l"/>
              <a:pathLst>
                <a:path h="70012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00126"/>
                  </a:lnTo>
                  <a:lnTo>
                    <a:pt x="0" y="7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8" r="0" b="-344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328416" cy="700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TOKENIZE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98848" y="3813048"/>
            <a:ext cx="2496312" cy="576072"/>
            <a:chOff x="0" y="0"/>
            <a:chExt cx="3328416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28416" cy="768096"/>
            </a:xfrm>
            <a:custGeom>
              <a:avLst/>
              <a:gdLst/>
              <a:ahLst/>
              <a:cxnLst/>
              <a:rect r="r" b="b" t="t" l="l"/>
              <a:pathLst>
                <a:path h="76809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3284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ตัดเป็น tokens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55764" y="3538728"/>
            <a:ext cx="384048" cy="727819"/>
            <a:chOff x="0" y="0"/>
            <a:chExt cx="512064" cy="9704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8" b="4346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657719" y="2898267"/>
            <a:ext cx="2967990" cy="2007870"/>
            <a:chOff x="0" y="0"/>
            <a:chExt cx="3957320" cy="2677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57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395732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3735705" y="0"/>
                  </a:lnTo>
                  <a:cubicBezTo>
                    <a:pt x="3858133" y="0"/>
                    <a:pt x="3957320" y="99187"/>
                    <a:pt x="3957320" y="221615"/>
                  </a:cubicBezTo>
                  <a:lnTo>
                    <a:pt x="3957320" y="2455545"/>
                  </a:lnTo>
                  <a:cubicBezTo>
                    <a:pt x="3957320" y="2577973"/>
                    <a:pt x="3858133" y="2677160"/>
                    <a:pt x="3735705" y="2677160"/>
                  </a:cubicBezTo>
                  <a:lnTo>
                    <a:pt x="221615" y="2677160"/>
                  </a:lnTo>
                  <a:cubicBezTo>
                    <a:pt x="99187" y="2677160"/>
                    <a:pt x="0" y="2577973"/>
                    <a:pt x="0" y="2455545"/>
                  </a:cubicBezTo>
                  <a:close/>
                </a:path>
              </a:pathLst>
            </a:custGeom>
            <a:solidFill>
              <a:srgbClr val="EDF6FF"/>
            </a:solidFill>
            <a:ln w="19050" cap="sq">
              <a:solidFill>
                <a:srgbClr val="8DBBE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886700" y="3223260"/>
            <a:ext cx="2496312" cy="525094"/>
            <a:chOff x="0" y="0"/>
            <a:chExt cx="3328416" cy="7001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28416" cy="700126"/>
            </a:xfrm>
            <a:custGeom>
              <a:avLst/>
              <a:gdLst/>
              <a:ahLst/>
              <a:cxnLst/>
              <a:rect r="r" b="b" t="t" l="l"/>
              <a:pathLst>
                <a:path h="70012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00126"/>
                  </a:lnTo>
                  <a:lnTo>
                    <a:pt x="0" y="7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8" r="0" b="-344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328416" cy="700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SPECTER2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86700" y="3813048"/>
            <a:ext cx="2496312" cy="576072"/>
            <a:chOff x="0" y="0"/>
            <a:chExt cx="3328416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28416" cy="768096"/>
            </a:xfrm>
            <a:custGeom>
              <a:avLst/>
              <a:gdLst/>
              <a:ahLst/>
              <a:cxnLst/>
              <a:rect r="r" b="b" t="t" l="l"/>
              <a:pathLst>
                <a:path h="76809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3284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allenai/specter2_base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643616" y="3538728"/>
            <a:ext cx="384048" cy="727819"/>
            <a:chOff x="0" y="0"/>
            <a:chExt cx="512064" cy="97042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8" b="434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045571" y="2898267"/>
            <a:ext cx="2967990" cy="2007870"/>
            <a:chOff x="0" y="0"/>
            <a:chExt cx="3957320" cy="2677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57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395732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3735705" y="0"/>
                  </a:lnTo>
                  <a:cubicBezTo>
                    <a:pt x="3858133" y="0"/>
                    <a:pt x="3957320" y="99187"/>
                    <a:pt x="3957320" y="221615"/>
                  </a:cubicBezTo>
                  <a:lnTo>
                    <a:pt x="3957320" y="2455545"/>
                  </a:lnTo>
                  <a:cubicBezTo>
                    <a:pt x="3957320" y="2577973"/>
                    <a:pt x="3858133" y="2677160"/>
                    <a:pt x="3735705" y="2677160"/>
                  </a:cubicBezTo>
                  <a:lnTo>
                    <a:pt x="221615" y="2677160"/>
                  </a:lnTo>
                  <a:cubicBezTo>
                    <a:pt x="99187" y="2677160"/>
                    <a:pt x="0" y="2577973"/>
                    <a:pt x="0" y="24555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274552" y="3223260"/>
            <a:ext cx="2496312" cy="525094"/>
            <a:chOff x="0" y="0"/>
            <a:chExt cx="3328416" cy="7001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28416" cy="700126"/>
            </a:xfrm>
            <a:custGeom>
              <a:avLst/>
              <a:gdLst/>
              <a:ahLst/>
              <a:cxnLst/>
              <a:rect r="r" b="b" t="t" l="l"/>
              <a:pathLst>
                <a:path h="70012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00126"/>
                  </a:lnTo>
                  <a:lnTo>
                    <a:pt x="0" y="7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8" r="0" b="-344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328416" cy="700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768D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274552" y="3813048"/>
            <a:ext cx="2496312" cy="576072"/>
            <a:chOff x="0" y="0"/>
            <a:chExt cx="3328416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28416" cy="768096"/>
            </a:xfrm>
            <a:custGeom>
              <a:avLst/>
              <a:gdLst/>
              <a:ahLst/>
              <a:cxnLst/>
              <a:rect r="r" b="b" t="t" l="l"/>
              <a:pathLst>
                <a:path h="76809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3284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Feature vector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031468" y="3538728"/>
            <a:ext cx="384048" cy="727819"/>
            <a:chOff x="0" y="0"/>
            <a:chExt cx="512064" cy="9704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" cy="970426"/>
            </a:xfrm>
            <a:custGeom>
              <a:avLst/>
              <a:gdLst/>
              <a:ahLst/>
              <a:cxnLst/>
              <a:rect r="r" b="b" t="t" l="l"/>
              <a:pathLst>
                <a:path h="97042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70426"/>
                  </a:lnTo>
                  <a:lnTo>
                    <a:pt x="0" y="970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8" b="4346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12064" cy="97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433423" y="2898267"/>
            <a:ext cx="2967990" cy="2007870"/>
            <a:chOff x="0" y="0"/>
            <a:chExt cx="3957320" cy="2677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573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395732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3735705" y="0"/>
                  </a:lnTo>
                  <a:cubicBezTo>
                    <a:pt x="3858133" y="0"/>
                    <a:pt x="3957320" y="99187"/>
                    <a:pt x="3957320" y="221615"/>
                  </a:cubicBezTo>
                  <a:lnTo>
                    <a:pt x="3957320" y="2455545"/>
                  </a:lnTo>
                  <a:cubicBezTo>
                    <a:pt x="3957320" y="2577973"/>
                    <a:pt x="3858133" y="2677160"/>
                    <a:pt x="3735705" y="2677160"/>
                  </a:cubicBezTo>
                  <a:lnTo>
                    <a:pt x="221615" y="2677160"/>
                  </a:lnTo>
                  <a:cubicBezTo>
                    <a:pt x="99187" y="2677160"/>
                    <a:pt x="0" y="2577973"/>
                    <a:pt x="0" y="245554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662404" y="3223260"/>
            <a:ext cx="2496312" cy="525094"/>
            <a:chOff x="0" y="0"/>
            <a:chExt cx="3328416" cy="70012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28416" cy="700126"/>
            </a:xfrm>
            <a:custGeom>
              <a:avLst/>
              <a:gdLst/>
              <a:ahLst/>
              <a:cxnLst/>
              <a:rect r="r" b="b" t="t" l="l"/>
              <a:pathLst>
                <a:path h="70012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00126"/>
                  </a:lnTo>
                  <a:lnTo>
                    <a:pt x="0" y="7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8" r="0" b="-3442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3328416" cy="700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L2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662404" y="3813048"/>
            <a:ext cx="2496312" cy="576072"/>
            <a:chOff x="0" y="0"/>
            <a:chExt cx="3328416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28416" cy="768096"/>
            </a:xfrm>
            <a:custGeom>
              <a:avLst/>
              <a:gdLst/>
              <a:ahLst/>
              <a:cxnLst/>
              <a:rect r="r" b="b" t="t" l="l"/>
              <a:pathLst>
                <a:path h="768096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32841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Normalize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82015" y="5504307"/>
            <a:ext cx="7768590" cy="2693670"/>
            <a:chOff x="0" y="0"/>
            <a:chExt cx="10358120" cy="3591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358120" cy="3591560"/>
            </a:xfrm>
            <a:custGeom>
              <a:avLst/>
              <a:gdLst/>
              <a:ahLst/>
              <a:cxnLst/>
              <a:rect r="r" b="b" t="t" l="l"/>
              <a:pathLst>
                <a:path h="3591560" w="1035812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137140" y="0"/>
                  </a:lnTo>
                  <a:cubicBezTo>
                    <a:pt x="10259187" y="0"/>
                    <a:pt x="10358120" y="98933"/>
                    <a:pt x="10358120" y="220980"/>
                  </a:cubicBezTo>
                  <a:lnTo>
                    <a:pt x="10358120" y="3370580"/>
                  </a:lnTo>
                  <a:cubicBezTo>
                    <a:pt x="10358120" y="3492627"/>
                    <a:pt x="10259187" y="3591560"/>
                    <a:pt x="10137140" y="3591560"/>
                  </a:cubicBezTo>
                  <a:lnTo>
                    <a:pt x="220980" y="3591560"/>
                  </a:lnTo>
                  <a:cubicBezTo>
                    <a:pt x="98933" y="3591560"/>
                    <a:pt x="0" y="3492627"/>
                    <a:pt x="0" y="3370580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42619" y="5696712"/>
            <a:ext cx="4150903" cy="727786"/>
            <a:chOff x="0" y="0"/>
            <a:chExt cx="5534538" cy="9703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34537" cy="970382"/>
            </a:xfrm>
            <a:custGeom>
              <a:avLst/>
              <a:gdLst/>
              <a:ahLst/>
              <a:cxnLst/>
              <a:rect r="r" b="b" t="t" l="l"/>
              <a:pathLst>
                <a:path h="970382" w="5534537">
                  <a:moveTo>
                    <a:pt x="0" y="0"/>
                  </a:moveTo>
                  <a:lnTo>
                    <a:pt x="5534537" y="0"/>
                  </a:lnTo>
                  <a:lnTo>
                    <a:pt x="5534537" y="970382"/>
                  </a:lnTo>
                  <a:lnTo>
                    <a:pt x="0" y="970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27304" b="-1376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5534538" cy="979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เหตุผลที่ใช้</a:t>
              </a:r>
              <a:r>
                <a:rPr lang="en-US" sz="27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 SPECTER2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1872" y="6377694"/>
            <a:ext cx="6515100" cy="1278941"/>
            <a:chOff x="0" y="0"/>
            <a:chExt cx="8686800" cy="170525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686800" cy="1705254"/>
            </a:xfrm>
            <a:custGeom>
              <a:avLst/>
              <a:gdLst/>
              <a:ahLst/>
              <a:cxnLst/>
              <a:rect r="r" b="b" t="t" l="l"/>
              <a:pathLst>
                <a:path h="170525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705254"/>
                  </a:lnTo>
                  <a:lnTo>
                    <a:pt x="0" y="17052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58" r="0" b="-303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8686800" cy="1705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7EAF9"/>
                  </a:solidFill>
                  <a:latin typeface="Garuda"/>
                  <a:ea typeface="Garuda"/>
                  <a:cs typeface="Garuda"/>
                  <a:sym typeface="Garuda"/>
                </a:rPr>
                <a:t>เป็นโมเดล AI ขั้นสูงที่ถูกฝึกสอน (</a:t>
              </a:r>
              <a:r>
                <a:rPr lang="en-US" sz="1800">
                  <a:solidFill>
                    <a:srgbClr val="D7EAF9"/>
                  </a:solidFill>
                  <a:latin typeface="Garuda"/>
                  <a:ea typeface="Garuda"/>
                  <a:cs typeface="Garuda"/>
                  <a:sym typeface="Garuda"/>
                </a:rPr>
                <a:t>Pre-trained) มาให้อ่านและทำความเข้าใจ "บทความวิจัยทางวิทยาศาสตร์และวิชาการ" โดยเฉพาะ ทำให้สามารถจับใจความสำคัญของเปเปอร์สายเทคโนโลยีได้ดีกว่าโมเดลภาษาทั่วไป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070467" y="5504307"/>
            <a:ext cx="8317230" cy="2693670"/>
            <a:chOff x="0" y="0"/>
            <a:chExt cx="11089640" cy="3591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089640" cy="3591560"/>
            </a:xfrm>
            <a:custGeom>
              <a:avLst/>
              <a:gdLst/>
              <a:ahLst/>
              <a:cxnLst/>
              <a:rect r="r" b="b" t="t" l="l"/>
              <a:pathLst>
                <a:path h="3591560" w="1108964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868660" y="0"/>
                  </a:lnTo>
                  <a:cubicBezTo>
                    <a:pt x="10990707" y="0"/>
                    <a:pt x="11089640" y="98933"/>
                    <a:pt x="11089640" y="220980"/>
                  </a:cubicBezTo>
                  <a:lnTo>
                    <a:pt x="11089640" y="3370580"/>
                  </a:lnTo>
                  <a:cubicBezTo>
                    <a:pt x="11089640" y="3492627"/>
                    <a:pt x="10990707" y="3591560"/>
                    <a:pt x="10868660" y="3591560"/>
                  </a:cubicBezTo>
                  <a:lnTo>
                    <a:pt x="220980" y="3591560"/>
                  </a:lnTo>
                  <a:cubicBezTo>
                    <a:pt x="98933" y="3591560"/>
                    <a:pt x="0" y="3492627"/>
                    <a:pt x="0" y="33705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518904" y="5649087"/>
            <a:ext cx="3840480" cy="727786"/>
            <a:chOff x="0" y="0"/>
            <a:chExt cx="5120640" cy="97038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970382"/>
            </a:xfrm>
            <a:custGeom>
              <a:avLst/>
              <a:gdLst/>
              <a:ahLst/>
              <a:cxnLst/>
              <a:rect r="r" b="b" t="t" l="l"/>
              <a:pathLst>
                <a:path h="97038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0382"/>
                  </a:lnTo>
                  <a:lnTo>
                    <a:pt x="0" y="970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40" r="0" b="-3580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120640" cy="979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L2 Normalization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18904" y="6296787"/>
            <a:ext cx="7104888" cy="1334567"/>
            <a:chOff x="0" y="0"/>
            <a:chExt cx="9473184" cy="177942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473184" cy="1779422"/>
            </a:xfrm>
            <a:custGeom>
              <a:avLst/>
              <a:gdLst/>
              <a:ahLst/>
              <a:cxnLst/>
              <a:rect r="r" b="b" t="t" l="l"/>
              <a:pathLst>
                <a:path h="1779422" w="9473184">
                  <a:moveTo>
                    <a:pt x="0" y="0"/>
                  </a:moveTo>
                  <a:lnTo>
                    <a:pt x="9473184" y="0"/>
                  </a:lnTo>
                  <a:lnTo>
                    <a:pt x="9473184" y="1779422"/>
                  </a:lnTo>
                  <a:lnTo>
                    <a:pt x="0" y="17794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8" r="0" b="-3353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9473184" cy="1798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2"/>
                </a:lnSpc>
              </a:pPr>
              <a:r>
                <a:rPr lang="en-US" sz="18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ปรับเวกเตอร์ให้มีสเกลมาตรฐานเดียวกัน</a:t>
              </a:r>
            </a:p>
            <a:p>
              <a:pPr algn="l">
                <a:lnSpc>
                  <a:spcPts val="2322"/>
                </a:lnSpc>
              </a:pPr>
              <a:r>
                <a:rPr lang="en-US" sz="1800">
                  <a:solidFill>
                    <a:srgbClr val="16324F"/>
                  </a:solidFill>
                  <a:latin typeface="Garuda"/>
                  <a:ea typeface="Garuda"/>
                  <a:cs typeface="Garuda"/>
                  <a:sym typeface="Garuda"/>
                </a:rPr>
                <a:t>เพื่อให้วัดระยะห่าง / similarity ขั้นตอนนี้สำคัญมากเพราะจะช่วยให้อัลกอริทึม Machine Learning วัดระยะห่างหรือความคล้ายคลึงของเปเปอร์แต่ละฉบับได้อย่างแม่นยำ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42619" y="8700135"/>
            <a:ext cx="3722370" cy="512826"/>
            <a:chOff x="0" y="0"/>
            <a:chExt cx="4963160" cy="6837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63160" cy="683768"/>
            </a:xfrm>
            <a:custGeom>
              <a:avLst/>
              <a:gdLst/>
              <a:ahLst/>
              <a:cxnLst/>
              <a:rect r="r" b="b" t="t" l="l"/>
              <a:pathLst>
                <a:path h="683768" w="496316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4811268" y="0"/>
                  </a:lnTo>
                  <a:cubicBezTo>
                    <a:pt x="4895215" y="0"/>
                    <a:pt x="4963160" y="68072"/>
                    <a:pt x="4963160" y="151892"/>
                  </a:cubicBezTo>
                  <a:lnTo>
                    <a:pt x="4963160" y="531876"/>
                  </a:lnTo>
                  <a:cubicBezTo>
                    <a:pt x="4963160" y="615823"/>
                    <a:pt x="4895088" y="683768"/>
                    <a:pt x="481126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EAF3FB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61872" y="8737092"/>
            <a:ext cx="3483864" cy="405318"/>
            <a:chOff x="0" y="0"/>
            <a:chExt cx="4645152" cy="54042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645152" cy="540424"/>
            </a:xfrm>
            <a:custGeom>
              <a:avLst/>
              <a:gdLst/>
              <a:ahLst/>
              <a:cxnLst/>
              <a:rect r="r" b="b" t="t" l="l"/>
              <a:pathLst>
                <a:path h="540424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105" r="0" b="-11485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464515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Input = context-rich text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133975" y="8700135"/>
            <a:ext cx="3749802" cy="512826"/>
            <a:chOff x="0" y="0"/>
            <a:chExt cx="4999736" cy="6837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99736" cy="683768"/>
            </a:xfrm>
            <a:custGeom>
              <a:avLst/>
              <a:gdLst/>
              <a:ahLst/>
              <a:cxnLst/>
              <a:rect r="r" b="b" t="t" l="l"/>
              <a:pathLst>
                <a:path h="683768" w="4999736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4847844" y="0"/>
                  </a:lnTo>
                  <a:cubicBezTo>
                    <a:pt x="4931791" y="0"/>
                    <a:pt x="4999736" y="68072"/>
                    <a:pt x="4999736" y="151892"/>
                  </a:cubicBezTo>
                  <a:lnTo>
                    <a:pt x="4999736" y="531876"/>
                  </a:lnTo>
                  <a:cubicBezTo>
                    <a:pt x="4999736" y="615823"/>
                    <a:pt x="4931664" y="683768"/>
                    <a:pt x="4847844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8F7F4"/>
            </a:solidFill>
            <a:ln w="19050" cap="sq">
              <a:solidFill>
                <a:srgbClr val="E8F7F4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5253228" y="8737092"/>
            <a:ext cx="3511296" cy="405318"/>
            <a:chOff x="0" y="0"/>
            <a:chExt cx="4681728" cy="5404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81728" cy="540424"/>
            </a:xfrm>
            <a:custGeom>
              <a:avLst/>
              <a:gdLst/>
              <a:ahLst/>
              <a:cxnLst/>
              <a:rect r="r" b="b" t="t" l="l"/>
              <a:pathLst>
                <a:path h="54042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24" r="0" b="-11617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4681728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AA6A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Output = numeric vector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773787" y="8700135"/>
            <a:ext cx="3928110" cy="512826"/>
            <a:chOff x="0" y="0"/>
            <a:chExt cx="5237480" cy="6837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37480" cy="683768"/>
            </a:xfrm>
            <a:custGeom>
              <a:avLst/>
              <a:gdLst/>
              <a:ahLst/>
              <a:cxnLst/>
              <a:rect r="r" b="b" t="t" l="l"/>
              <a:pathLst>
                <a:path h="683768" w="523748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5085588" y="0"/>
                  </a:lnTo>
                  <a:cubicBezTo>
                    <a:pt x="5169535" y="0"/>
                    <a:pt x="5237480" y="68072"/>
                    <a:pt x="5237480" y="151892"/>
                  </a:cubicBezTo>
                  <a:lnTo>
                    <a:pt x="5237480" y="531876"/>
                  </a:lnTo>
                  <a:cubicBezTo>
                    <a:pt x="5237480" y="615823"/>
                    <a:pt x="5169408" y="683768"/>
                    <a:pt x="508558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2893040" y="8737092"/>
            <a:ext cx="3689604" cy="405318"/>
            <a:chOff x="0" y="0"/>
            <a:chExt cx="4919472" cy="5404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19472" cy="540424"/>
            </a:xfrm>
            <a:custGeom>
              <a:avLst/>
              <a:gdLst/>
              <a:ahLst/>
              <a:cxnLst/>
              <a:rect r="r" b="b" t="t" l="l"/>
              <a:pathLst>
                <a:path h="540424" w="4919472">
                  <a:moveTo>
                    <a:pt x="0" y="0"/>
                  </a:moveTo>
                  <a:lnTo>
                    <a:pt x="4919472" y="0"/>
                  </a:lnTo>
                  <a:lnTo>
                    <a:pt x="4919472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95" r="0" b="-12474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919472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Ready for ML algorithms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7442180" y="992124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CEBFA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838563"/>
            <a:ext cx="18306593" cy="457962"/>
            <a:chOff x="0" y="0"/>
            <a:chExt cx="24408790" cy="610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610616"/>
            </a:xfrm>
            <a:custGeom>
              <a:avLst/>
              <a:gdLst/>
              <a:ahLst/>
              <a:cxnLst/>
              <a:rect r="r" b="b" t="t" l="l"/>
              <a:pathLst>
                <a:path h="61061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889236"/>
            <a:ext cx="4389120" cy="225400"/>
            <a:chOff x="0" y="0"/>
            <a:chExt cx="5852160" cy="3005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300534"/>
            </a:xfrm>
            <a:custGeom>
              <a:avLst/>
              <a:gdLst/>
              <a:ahLst/>
              <a:cxnLst/>
              <a:rect r="r" b="b" t="t" l="l"/>
              <a:pathLst>
                <a:path h="30053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00534"/>
                  </a:lnTo>
                  <a:lnTo>
                    <a:pt x="0" y="300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742" r="0" b="-328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852160" cy="300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DCE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SCOPUS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480060"/>
            <a:ext cx="6172200" cy="405318"/>
            <a:chOff x="0" y="0"/>
            <a:chExt cx="8229600" cy="540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540424"/>
            </a:xfrm>
            <a:custGeom>
              <a:avLst/>
              <a:gdLst/>
              <a:ahLst/>
              <a:cxnLst/>
              <a:rect r="r" b="b" t="t" l="l"/>
              <a:pathLst>
                <a:path h="54042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18" r="0" b="-239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2296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10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10 • FINAL OUTPUT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540" y="932688"/>
            <a:ext cx="16459200" cy="1133137"/>
            <a:chOff x="0" y="0"/>
            <a:chExt cx="21945600" cy="151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10849"/>
            </a:xfrm>
            <a:custGeom>
              <a:avLst/>
              <a:gdLst/>
              <a:ahLst/>
              <a:cxnLst/>
              <a:rect r="r" b="b" t="t" l="l"/>
              <a:pathLst>
                <a:path h="15108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849"/>
                  </a:lnTo>
                  <a:lnTo>
                    <a:pt x="0" y="1510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55" r="0" b="-2144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ผลลัพธ์สุ</a:t>
              </a:r>
              <a:r>
                <a:rPr lang="en-US" sz="420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ดท้ายที่ได้คือ ชุดข้อมูล Feature Vector 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740">
            <a:off x="880100" y="2217230"/>
            <a:ext cx="16482079" cy="0"/>
          </a:xfrm>
          <a:prstGeom prst="line">
            <a:avLst/>
          </a:prstGeom>
          <a:ln cap="rnd" w="9525">
            <a:solidFill>
              <a:srgbClr val="C9D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91540" y="1731755"/>
            <a:ext cx="3771900" cy="478874"/>
            <a:chOff x="0" y="0"/>
            <a:chExt cx="5029200" cy="6384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9200" cy="638498"/>
            </a:xfrm>
            <a:custGeom>
              <a:avLst/>
              <a:gdLst/>
              <a:ahLst/>
              <a:cxnLst/>
              <a:rect r="r" b="b" t="t" l="l"/>
              <a:pathLst>
                <a:path h="63849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03" r="3636" b="-965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029200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ทุกบทความถูกแปลงเป็นเวกเตอร์ขนาด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53712" y="1695765"/>
            <a:ext cx="987552" cy="592658"/>
            <a:chOff x="0" y="0"/>
            <a:chExt cx="1316736" cy="7902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790211"/>
            </a:xfrm>
            <a:custGeom>
              <a:avLst/>
              <a:gdLst/>
              <a:ahLst/>
              <a:cxnLst/>
              <a:rect r="r" b="b" t="t" l="l"/>
              <a:pathLst>
                <a:path h="790211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790211"/>
                  </a:lnTo>
                  <a:lnTo>
                    <a:pt x="0" y="790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166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16736" cy="79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768D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82412" y="1731755"/>
            <a:ext cx="10520172" cy="478874"/>
            <a:chOff x="0" y="0"/>
            <a:chExt cx="14026896" cy="6384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26896" cy="638498"/>
            </a:xfrm>
            <a:custGeom>
              <a:avLst/>
              <a:gdLst/>
              <a:ahLst/>
              <a:cxnLst/>
              <a:rect r="r" b="b" t="t" l="l"/>
              <a:pathLst>
                <a:path h="638498" w="14026896">
                  <a:moveTo>
                    <a:pt x="0" y="0"/>
                  </a:moveTo>
                  <a:lnTo>
                    <a:pt x="14026896" y="0"/>
                  </a:lnTo>
                  <a:lnTo>
                    <a:pt x="14026896" y="638498"/>
                  </a:lnTo>
                  <a:lnTo>
                    <a:pt x="0" y="638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366" r="0" b="-3767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4026896" cy="638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C7289"/>
                  </a:solidFill>
                  <a:latin typeface="Garuda"/>
                  <a:ea typeface="Garuda"/>
                  <a:cs typeface="Garuda"/>
                  <a:sym typeface="Garuda"/>
                </a:rPr>
                <a:t>และส่งต่อให้ขั้นตอน Machine Learning ได้ทันที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2015" y="2761107"/>
            <a:ext cx="16505682" cy="2830830"/>
            <a:chOff x="0" y="0"/>
            <a:chExt cx="22007576" cy="3774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07576" cy="3774440"/>
            </a:xfrm>
            <a:custGeom>
              <a:avLst/>
              <a:gdLst/>
              <a:ahLst/>
              <a:cxnLst/>
              <a:rect r="r" b="b" t="t" l="l"/>
              <a:pathLst>
                <a:path h="3774440" w="22007576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1786596" y="0"/>
                  </a:lnTo>
                  <a:cubicBezTo>
                    <a:pt x="21908643" y="0"/>
                    <a:pt x="22007576" y="98933"/>
                    <a:pt x="22007576" y="220980"/>
                  </a:cubicBezTo>
                  <a:lnTo>
                    <a:pt x="22007576" y="3553460"/>
                  </a:lnTo>
                  <a:cubicBezTo>
                    <a:pt x="22007576" y="3675507"/>
                    <a:pt x="21908643" y="3774440"/>
                    <a:pt x="21786596" y="3774440"/>
                  </a:cubicBezTo>
                  <a:lnTo>
                    <a:pt x="220980" y="3774440"/>
                  </a:lnTo>
                  <a:cubicBezTo>
                    <a:pt x="98933" y="3774440"/>
                    <a:pt x="0" y="3675507"/>
                    <a:pt x="0" y="3553460"/>
                  </a:cubicBezTo>
                  <a:close/>
                </a:path>
              </a:pathLst>
            </a:custGeom>
            <a:solidFill>
              <a:srgbClr val="0B2E59"/>
            </a:solidFill>
            <a:ln w="19050" cap="sq">
              <a:solidFill>
                <a:srgbClr val="0B2E5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81328" y="3429000"/>
            <a:ext cx="7132320" cy="1289675"/>
            <a:chOff x="0" y="0"/>
            <a:chExt cx="9509760" cy="17195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719567"/>
            </a:xfrm>
            <a:custGeom>
              <a:avLst/>
              <a:gdLst/>
              <a:ahLst/>
              <a:cxnLst/>
              <a:rect r="r" b="b" t="t" l="l"/>
              <a:pathLst>
                <a:path h="171956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719567"/>
                  </a:lnTo>
                  <a:lnTo>
                    <a:pt x="0" y="1719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35" r="0" b="-449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509760" cy="1719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( 5,459 , 768 )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4443984"/>
            <a:ext cx="2948940" cy="405318"/>
            <a:chOff x="0" y="0"/>
            <a:chExt cx="3931920" cy="5404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31920" cy="540424"/>
            </a:xfrm>
            <a:custGeom>
              <a:avLst/>
              <a:gdLst/>
              <a:ahLst/>
              <a:cxnLst/>
              <a:rect r="r" b="b" t="t" l="l"/>
              <a:pathLst>
                <a:path h="5404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57" r="0" b="-823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93192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ECBE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ROWS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74920" y="4443984"/>
            <a:ext cx="2948940" cy="405318"/>
            <a:chOff x="0" y="0"/>
            <a:chExt cx="3931920" cy="5404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31920" cy="540424"/>
            </a:xfrm>
            <a:custGeom>
              <a:avLst/>
              <a:gdLst/>
              <a:ahLst/>
              <a:cxnLst/>
              <a:rect r="r" b="b" t="t" l="l"/>
              <a:pathLst>
                <a:path h="5404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57" r="0" b="-8237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93192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ECBE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DIMENSIONS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95460" y="3429000"/>
            <a:ext cx="6446520" cy="681533"/>
            <a:chOff x="0" y="0"/>
            <a:chExt cx="8595360" cy="9087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95360" cy="908710"/>
            </a:xfrm>
            <a:custGeom>
              <a:avLst/>
              <a:gdLst/>
              <a:ahLst/>
              <a:cxnLst/>
              <a:rect r="r" b="b" t="t" l="l"/>
              <a:pathLst>
                <a:path h="90871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08710"/>
                  </a:lnTo>
                  <a:lnTo>
                    <a:pt x="0" y="908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93" r="0" b="-11851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595360" cy="9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paper 5,459 ฉบับ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95460" y="4087368"/>
            <a:ext cx="6652260" cy="478841"/>
            <a:chOff x="0" y="0"/>
            <a:chExt cx="8869680" cy="6384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638454"/>
            </a:xfrm>
            <a:custGeom>
              <a:avLst/>
              <a:gdLst/>
              <a:ahLst/>
              <a:cxnLst/>
              <a:rect r="r" b="b" t="t" l="l"/>
              <a:pathLst>
                <a:path h="638454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638454"/>
                  </a:lnTo>
                  <a:lnTo>
                    <a:pt x="0" y="6384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999" r="0" b="-2193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869680" cy="63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5E9F8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ถูกเข้ารหัสเป็น 768 features ต่อฉบับ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95460" y="4745736"/>
            <a:ext cx="6652260" cy="478841"/>
            <a:chOff x="0" y="0"/>
            <a:chExt cx="8869680" cy="6384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869680" cy="638454"/>
            </a:xfrm>
            <a:custGeom>
              <a:avLst/>
              <a:gdLst/>
              <a:ahLst/>
              <a:cxnLst/>
              <a:rect r="r" b="b" t="t" l="l"/>
              <a:pathLst>
                <a:path h="638454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638454"/>
                  </a:lnTo>
                  <a:lnTo>
                    <a:pt x="0" y="6384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999" r="0" b="-2193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869680" cy="638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5E9F8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พร้อมใช้เป็น Train Data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2015" y="6052947"/>
            <a:ext cx="5121402" cy="1870710"/>
            <a:chOff x="0" y="0"/>
            <a:chExt cx="6828536" cy="2494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8536" cy="2494280"/>
            </a:xfrm>
            <a:custGeom>
              <a:avLst/>
              <a:gdLst/>
              <a:ahLst/>
              <a:cxnLst/>
              <a:rect r="r" b="b" t="t" l="l"/>
              <a:pathLst>
                <a:path h="2494280" w="6828536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6606794" y="0"/>
                  </a:lnTo>
                  <a:cubicBezTo>
                    <a:pt x="6729222" y="0"/>
                    <a:pt x="6828536" y="99314"/>
                    <a:pt x="6828536" y="221742"/>
                  </a:cubicBezTo>
                  <a:lnTo>
                    <a:pt x="6828536" y="2272538"/>
                  </a:lnTo>
                  <a:cubicBezTo>
                    <a:pt x="6828536" y="2394966"/>
                    <a:pt x="6729222" y="2494280"/>
                    <a:pt x="6606794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83767" y="6368415"/>
            <a:ext cx="1500378" cy="512826"/>
            <a:chOff x="0" y="0"/>
            <a:chExt cx="2000504" cy="6837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00504" cy="683768"/>
            </a:xfrm>
            <a:custGeom>
              <a:avLst/>
              <a:gdLst/>
              <a:ahLst/>
              <a:cxnLst/>
              <a:rect r="r" b="b" t="t" l="l"/>
              <a:pathLst>
                <a:path h="683768" w="2000504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1848612" y="0"/>
                  </a:lnTo>
                  <a:cubicBezTo>
                    <a:pt x="1932559" y="0"/>
                    <a:pt x="2000504" y="68072"/>
                    <a:pt x="2000504" y="151892"/>
                  </a:cubicBezTo>
                  <a:lnTo>
                    <a:pt x="2000504" y="531876"/>
                  </a:lnTo>
                  <a:cubicBezTo>
                    <a:pt x="2000504" y="615823"/>
                    <a:pt x="1932432" y="683768"/>
                    <a:pt x="1848612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EAF3F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03020" y="6405372"/>
            <a:ext cx="1261872" cy="405318"/>
            <a:chOff x="0" y="0"/>
            <a:chExt cx="1682496" cy="5404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82496" cy="540424"/>
            </a:xfrm>
            <a:custGeom>
              <a:avLst/>
              <a:gdLst/>
              <a:ahLst/>
              <a:cxnLst/>
              <a:rect r="r" b="b" t="t" l="l"/>
              <a:pathLst>
                <a:path h="540424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6" r="0" b="-80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68249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K-Means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3292" y="7036308"/>
            <a:ext cx="4389120" cy="466344"/>
            <a:chOff x="0" y="0"/>
            <a:chExt cx="5852160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8521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จัดกลุ่ม paper ที่คล้ายกัน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68415" y="6052947"/>
            <a:ext cx="5121402" cy="1870710"/>
            <a:chOff x="0" y="0"/>
            <a:chExt cx="6828536" cy="2494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8536" cy="2494280"/>
            </a:xfrm>
            <a:custGeom>
              <a:avLst/>
              <a:gdLst/>
              <a:ahLst/>
              <a:cxnLst/>
              <a:rect r="r" b="b" t="t" l="l"/>
              <a:pathLst>
                <a:path h="2494280" w="6828536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6606794" y="0"/>
                  </a:lnTo>
                  <a:cubicBezTo>
                    <a:pt x="6729222" y="0"/>
                    <a:pt x="6828536" y="99314"/>
                    <a:pt x="6828536" y="221742"/>
                  </a:cubicBezTo>
                  <a:lnTo>
                    <a:pt x="6828536" y="2272538"/>
                  </a:lnTo>
                  <a:cubicBezTo>
                    <a:pt x="6828536" y="2394966"/>
                    <a:pt x="6729222" y="2494280"/>
                    <a:pt x="6606794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670167" y="6368415"/>
            <a:ext cx="1500378" cy="512826"/>
            <a:chOff x="0" y="0"/>
            <a:chExt cx="2000504" cy="6837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00504" cy="683768"/>
            </a:xfrm>
            <a:custGeom>
              <a:avLst/>
              <a:gdLst/>
              <a:ahLst/>
              <a:cxnLst/>
              <a:rect r="r" b="b" t="t" l="l"/>
              <a:pathLst>
                <a:path h="683768" w="2000504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1848612" y="0"/>
                  </a:lnTo>
                  <a:cubicBezTo>
                    <a:pt x="1932559" y="0"/>
                    <a:pt x="2000504" y="68072"/>
                    <a:pt x="2000504" y="151892"/>
                  </a:cubicBezTo>
                  <a:lnTo>
                    <a:pt x="2000504" y="531876"/>
                  </a:lnTo>
                  <a:cubicBezTo>
                    <a:pt x="2000504" y="615823"/>
                    <a:pt x="1932432" y="683768"/>
                    <a:pt x="1848612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8F7F4"/>
            </a:solidFill>
            <a:ln w="19050" cap="sq">
              <a:solidFill>
                <a:srgbClr val="E8F7F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789420" y="6405372"/>
            <a:ext cx="1261872" cy="405318"/>
            <a:chOff x="0" y="0"/>
            <a:chExt cx="1682496" cy="5404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82496" cy="540424"/>
            </a:xfrm>
            <a:custGeom>
              <a:avLst/>
              <a:gdLst/>
              <a:ahLst/>
              <a:cxnLst/>
              <a:rect r="r" b="b" t="t" l="l"/>
              <a:pathLst>
                <a:path h="540424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6" r="0" b="-803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682496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AA6A1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KNN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79692" y="7036308"/>
            <a:ext cx="4389120" cy="466344"/>
            <a:chOff x="0" y="0"/>
            <a:chExt cx="5852160" cy="621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8521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ค้นหา paper ที่ใกล้ที่สุด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854815" y="6052947"/>
            <a:ext cx="5121402" cy="1870710"/>
            <a:chOff x="0" y="0"/>
            <a:chExt cx="6828536" cy="2494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8536" cy="2494280"/>
            </a:xfrm>
            <a:custGeom>
              <a:avLst/>
              <a:gdLst/>
              <a:ahLst/>
              <a:cxnLst/>
              <a:rect r="r" b="b" t="t" l="l"/>
              <a:pathLst>
                <a:path h="2494280" w="6828536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6606794" y="0"/>
                  </a:lnTo>
                  <a:cubicBezTo>
                    <a:pt x="6729222" y="0"/>
                    <a:pt x="6828536" y="99314"/>
                    <a:pt x="6828536" y="221742"/>
                  </a:cubicBezTo>
                  <a:lnTo>
                    <a:pt x="6828536" y="2272538"/>
                  </a:lnTo>
                  <a:cubicBezTo>
                    <a:pt x="6828536" y="2394966"/>
                    <a:pt x="6729222" y="2494280"/>
                    <a:pt x="6606794" y="2494280"/>
                  </a:cubicBezTo>
                  <a:lnTo>
                    <a:pt x="221742" y="2494280"/>
                  </a:lnTo>
                  <a:cubicBezTo>
                    <a:pt x="99314" y="2494280"/>
                    <a:pt x="0" y="2394966"/>
                    <a:pt x="0" y="22725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9E9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156567" y="6368415"/>
            <a:ext cx="1500378" cy="512826"/>
            <a:chOff x="0" y="0"/>
            <a:chExt cx="2000504" cy="6837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00504" cy="683768"/>
            </a:xfrm>
            <a:custGeom>
              <a:avLst/>
              <a:gdLst/>
              <a:ahLst/>
              <a:cxnLst/>
              <a:rect r="r" b="b" t="t" l="l"/>
              <a:pathLst>
                <a:path h="683768" w="2000504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1848612" y="0"/>
                  </a:lnTo>
                  <a:cubicBezTo>
                    <a:pt x="1932559" y="0"/>
                    <a:pt x="2000504" y="68072"/>
                    <a:pt x="2000504" y="151892"/>
                  </a:cubicBezTo>
                  <a:lnTo>
                    <a:pt x="2000504" y="531876"/>
                  </a:lnTo>
                  <a:cubicBezTo>
                    <a:pt x="2000504" y="615823"/>
                    <a:pt x="1932432" y="683768"/>
                    <a:pt x="1848612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F1F4F8"/>
            </a:solidFill>
            <a:ln w="19050" cap="sq">
              <a:solidFill>
                <a:srgbClr val="F1F4F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275820" y="6405372"/>
            <a:ext cx="1381125" cy="405318"/>
            <a:chOff x="0" y="0"/>
            <a:chExt cx="1841500" cy="5404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41500" cy="540424"/>
            </a:xfrm>
            <a:custGeom>
              <a:avLst/>
              <a:gdLst/>
              <a:ahLst/>
              <a:cxnLst/>
              <a:rect r="r" b="b" t="t" l="l"/>
              <a:pathLst>
                <a:path h="540424" w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540424"/>
                  </a:lnTo>
                  <a:lnTo>
                    <a:pt x="0" y="54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6" r="8634" b="-803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841500" cy="54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5CAB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Classification*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66092" y="7036308"/>
            <a:ext cx="4389120" cy="466344"/>
            <a:chOff x="0" y="0"/>
            <a:chExt cx="5852160" cy="6217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8521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324F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ต่อยอดงานจำแนกประเภท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69848" y="9079992"/>
            <a:ext cx="1577340" cy="405384"/>
            <a:chOff x="0" y="0"/>
            <a:chExt cx="2103120" cy="5405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03120" cy="540512"/>
            </a:xfrm>
            <a:custGeom>
              <a:avLst/>
              <a:gdLst/>
              <a:ahLst/>
              <a:cxnLst/>
              <a:rect r="r" b="b" t="t" l="l"/>
              <a:pathLst>
                <a:path h="540512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0512"/>
                  </a:lnTo>
                  <a:lnTo>
                    <a:pt x="0" y="54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97" r="0" b="-1303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103120" cy="55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A78C7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TAKEAWAY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770632" y="9052560"/>
            <a:ext cx="13331952" cy="442112"/>
            <a:chOff x="0" y="0"/>
            <a:chExt cx="17775936" cy="58948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775937" cy="589483"/>
            </a:xfrm>
            <a:custGeom>
              <a:avLst/>
              <a:gdLst/>
              <a:ahLst/>
              <a:cxnLst/>
              <a:rect r="r" b="b" t="t" l="l"/>
              <a:pathLst>
                <a:path h="589483" w="17775937">
                  <a:moveTo>
                    <a:pt x="0" y="0"/>
                  </a:moveTo>
                  <a:lnTo>
                    <a:pt x="17775937" y="0"/>
                  </a:lnTo>
                  <a:lnTo>
                    <a:pt x="17775937" y="589483"/>
                  </a:lnTo>
                  <a:lnTo>
                    <a:pt x="0" y="589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42" r="0" b="-52790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7775936" cy="58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2E59"/>
                  </a:solidFill>
                  <a:latin typeface="Garuda Bold"/>
                  <a:ea typeface="Garuda Bold"/>
                  <a:cs typeface="Garuda Bold"/>
                  <a:sym typeface="Garuda Bold"/>
                </a:rPr>
                <a:t>Clean data → Understand trends → Preserve context → Embed → Ready for ML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7442180" y="9921240"/>
            <a:ext cx="101711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DCEBFA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DAHTrD0oclw</dc:identifier>
  <dcterms:modified xsi:type="dcterms:W3CDTF">2011-08-01T06:04:30Z</dcterms:modified>
  <cp:revision>1</cp:revision>
  <dc:title>EDA_ML_Presentation</dc:title>
</cp:coreProperties>
</file>